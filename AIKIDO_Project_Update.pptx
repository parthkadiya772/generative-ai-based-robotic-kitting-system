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1" r:id="rId3"/>
    <p:sldId id="270" r:id="rId4"/>
    <p:sldId id="257" r:id="rId5"/>
    <p:sldId id="258" r:id="rId6"/>
    <p:sldId id="259" r:id="rId7"/>
    <p:sldId id="260" r:id="rId8"/>
    <p:sldId id="269" r:id="rId9"/>
    <p:sldId id="261" r:id="rId10"/>
    <p:sldId id="262" r:id="rId11"/>
    <p:sldId id="264" r:id="rId12"/>
    <p:sldId id="272" r:id="rId13"/>
    <p:sldId id="265" r:id="rId14"/>
    <p:sldId id="273" r:id="rId15"/>
    <p:sldId id="274" r:id="rId16"/>
    <p:sldId id="266" r:id="rId17"/>
    <p:sldId id="267"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32A31"/>
                </a:solidFill>
                <a:latin typeface="Calibri"/>
              </a:defRPr>
            </a:pPr>
            <a:r>
              <a:rPr lang="en-US" sz="1300" b="0" i="0" u="none" strike="noStrike">
                <a:solidFill>
                  <a:srgbClr val="232A31"/>
                </a:solidFill>
                <a:latin typeface="Calibri"/>
              </a:rPr>
              <a:t>Recorded task success (%)</a:t>
            </a:r>
          </a:p>
        </c:rich>
      </c:tx>
      <c:overlay val="0"/>
    </c:title>
    <c:autoTitleDeleted val="0"/>
    <c:plotArea>
      <c:layout/>
      <c:barChart>
        <c:barDir val="col"/>
        <c:grouping val="clustered"/>
        <c:varyColors val="0"/>
        <c:ser>
          <c:idx val="0"/>
          <c:order val="0"/>
          <c:tx>
            <c:strRef>
              <c:f>Sheet1!$B$1</c:f>
              <c:strCache>
                <c:ptCount val="1"/>
                <c:pt idx="0">
                  <c:v>Task success rate</c:v>
                </c:pt>
              </c:strCache>
            </c:strRef>
          </c:tx>
          <c:spPr>
            <a:solidFill>
              <a:srgbClr val="5B7EA6"/>
            </a:solidFill>
            <a:effectLst/>
          </c:spPr>
          <c:invertIfNegative val="0"/>
          <c:dPt>
            <c:idx val="0"/>
            <c:invertIfNegative val="0"/>
            <c:bubble3D val="0"/>
            <c:extLst>
              <c:ext xmlns:c16="http://schemas.microsoft.com/office/drawing/2014/chart" uri="{C3380CC4-5D6E-409C-BE32-E72D297353CC}">
                <c16:uniqueId val="{00000001-A926-42EF-9021-07553B4F4A86}"/>
              </c:ext>
            </c:extLst>
          </c:dPt>
          <c:dPt>
            <c:idx val="1"/>
            <c:invertIfNegative val="0"/>
            <c:bubble3D val="0"/>
            <c:spPr>
              <a:solidFill>
                <a:srgbClr val="C4453D"/>
              </a:solidFill>
              <a:effectLst/>
            </c:spPr>
            <c:extLst>
              <c:ext xmlns:c16="http://schemas.microsoft.com/office/drawing/2014/chart" uri="{C3380CC4-5D6E-409C-BE32-E72D297353CC}">
                <c16:uniqueId val="{00000003-A926-42EF-9021-07553B4F4A86}"/>
              </c:ext>
            </c:extLst>
          </c:dPt>
          <c:dLbls>
            <c:numFmt formatCode="#,##0" sourceLinked="0"/>
            <c:spPr>
              <a:noFill/>
              <a:ln>
                <a:noFill/>
              </a:ln>
              <a:effectLst/>
            </c:spPr>
            <c:txPr>
              <a:bodyPr/>
              <a:lstStyle/>
              <a:p>
                <a:pPr>
                  <a:defRPr sz="1200" b="0" i="0" u="none" strike="noStrike">
                    <a:solidFill>
                      <a:srgbClr val="232A31"/>
                    </a:solidFill>
                    <a:latin typeface="Calibri"/>
                  </a:defRPr>
                </a:pPr>
                <a:endParaRPr lang="en-S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gemma4
(43 tasks)</c:v>
                </c:pt>
                <c:pt idx="1">
                  <c:v>Qwen3-VL
(30 tasks)</c:v>
                </c:pt>
              </c:strCache>
            </c:strRef>
          </c:cat>
          <c:val>
            <c:numRef>
              <c:f>Sheet1!$B$2:$B$3</c:f>
              <c:numCache>
                <c:formatCode>General</c:formatCode>
                <c:ptCount val="2"/>
                <c:pt idx="0">
                  <c:v>53</c:v>
                </c:pt>
                <c:pt idx="1">
                  <c:v>0</c:v>
                </c:pt>
              </c:numCache>
            </c:numRef>
          </c:val>
          <c:extLst>
            <c:ext xmlns:c16="http://schemas.microsoft.com/office/drawing/2014/chart" uri="{C3380CC4-5D6E-409C-BE32-E72D297353CC}">
              <c16:uniqueId val="{00000004-A926-42EF-9021-07553B4F4A8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A434C"/>
                </a:solidFill>
                <a:latin typeface="Calibri"/>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12700" cap="flat">
              <a:solidFill>
                <a:srgbClr val="E1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49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9746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review covering three architectural phases since July: perception rearchitecture onto an open-source VLM served by vLLM, migration of motion planning to cuMotion with a point-cloud collision world, and the decision to move to cuRobo plus nvblox for real-hardware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91AD0-BCF8-1F18-C5B1-0AE67D917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D6DBF-53D6-D544-BEFB-8E201B89EF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68F141-C379-BFA5-00A2-2906713701B5}"/>
              </a:ext>
            </a:extLst>
          </p:cNvPr>
          <p:cNvSpPr>
            <a:spLocks noGrp="1"/>
          </p:cNvSpPr>
          <p:nvPr>
            <p:ph type="body" idx="1"/>
          </p:nvPr>
        </p:nvSpPr>
        <p:spPr/>
        <p:txBody>
          <a:bodyPr/>
          <a:lstStyle/>
          <a:p>
            <a:r>
              <a:rPr lang="en-US" dirty="0"/>
              <a:t>Progress review covering three architectural phases since July: perception rearchitecture onto an open-source VLM served by vLLM, migration of motion planning to cuMotion with a point-cloud collision world, and the decision to move to cuRobo plus nvblox for real-hardware deployment.</a:t>
            </a:r>
          </a:p>
        </p:txBody>
      </p:sp>
      <p:sp>
        <p:nvSpPr>
          <p:cNvPr id="4" name="Slide Number Placeholder 3">
            <a:extLst>
              <a:ext uri="{FF2B5EF4-FFF2-40B4-BE49-F238E27FC236}">
                <a16:creationId xmlns:a16="http://schemas.microsoft.com/office/drawing/2014/main" id="{FE97B823-7710-41C2-60AE-34CA85378A8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94936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is a ceiling-mounted UR10 on a gantry rail, giving seven planned degrees of freedom. Rule one in the architecture: object positions come from camera projection only, never from reading the simulator's internal scene graph, because that has no equivalent on real hardware.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point for examiners: each move was forced by a measured limitation in what came before, and each limitation was demonstrated before the change was made.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decision is architectural rather than accuracy-driven. Self-hosting, removing a pipeline stage, and reproducibility are the defensible reasons. The accuracy comparison comes later and is currently confounded.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diagnostic method rather than a result. The lesson generalises: when a model appears wrong, check first whether the surrounding code made the answer ambiguous.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802ED-912E-3894-7790-A350EA9CF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785EE-BBE7-E4AD-4F26-75B72C7FD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910B-DE76-4D46-16B1-3C16B14A6DE4}"/>
              </a:ext>
            </a:extLst>
          </p:cNvPr>
          <p:cNvSpPr>
            <a:spLocks noGrp="1"/>
          </p:cNvSpPr>
          <p:nvPr>
            <p:ph type="body" idx="1"/>
          </p:nvPr>
        </p:nvSpPr>
        <p:spPr/>
        <p:txBody>
          <a:bodyPr/>
          <a:lstStyle/>
          <a:p>
            <a:r>
              <a:rPr lang="en-US" dirty="0"/>
              <a:t>This slide shows diagnostic method rather than a result. The lesson generalises: when a model appears wrong, check first whether the surrounding code made the answer ambiguous.</a:t>
            </a:r>
          </a:p>
        </p:txBody>
      </p:sp>
      <p:sp>
        <p:nvSpPr>
          <p:cNvPr id="4" name="Slide Number Placeholder 3">
            <a:extLst>
              <a:ext uri="{FF2B5EF4-FFF2-40B4-BE49-F238E27FC236}">
                <a16:creationId xmlns:a16="http://schemas.microsoft.com/office/drawing/2014/main" id="{22CB696F-B4BA-6A61-2869-7D6590ED4EA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23640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sphere budget is the key number here. The collision world had to be squeezed into six thousand primitives, and the method used to squeeze it turned out to be the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none of these three is fixable by parameter tuning. They follow from the representation itself.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architecture decision rests on. These results come from calling the interface directly on the running system. The conclusion is not that cuMotion is poor software, but that its world model is built for authored geometry while ours is sensed.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these are verified, not planned. The container is built and the robot model loads with every collision sphere bound, which was itself a trap that had to be found and fixed.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single strongest reason: the interface between perception and planning becomes identical in simulation and on hardware. Everything between the camera driver and the robot driver stays the same.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this before anyone else does. The honest position is that the comparison is confounded, the confound is identified and evidenced in the logs, and a clean benchmark is scheduled. That is a stronger position than a favourable number nobody trusts.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A31"/>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754880" cy="4754880"/>
          </a:xfrm>
          <a:prstGeom prst="ellipse">
            <a:avLst/>
          </a:prstGeom>
          <a:solidFill>
            <a:srgbClr val="2E3740"/>
          </a:solidFill>
          <a:ln/>
        </p:spPr>
        <p:txBody>
          <a:bodyPr/>
          <a:lstStyle/>
          <a:p>
            <a:endParaRPr lang="en-SE"/>
          </a:p>
        </p:txBody>
      </p:sp>
      <p:sp>
        <p:nvSpPr>
          <p:cNvPr id="4" name="Text 2"/>
          <p:cNvSpPr txBox="1"/>
          <p:nvPr/>
        </p:nvSpPr>
        <p:spPr>
          <a:xfrm>
            <a:off x="594360" y="2011680"/>
            <a:ext cx="8778240" cy="1737360"/>
          </a:xfrm>
          <a:prstGeom prst="rect">
            <a:avLst/>
          </a:prstGeom>
          <a:noFill/>
          <a:ln/>
        </p:spPr>
        <p:txBody>
          <a:bodyPr wrap="square" lIns="0" tIns="0" rIns="0" bIns="0" rtlCol="0" anchor="ctr"/>
          <a:lstStyle/>
          <a:p>
            <a:pPr marL="0" indent="0">
              <a:lnSpc>
                <a:spcPts val="4600"/>
              </a:lnSpc>
              <a:buNone/>
            </a:pPr>
            <a:r>
              <a:rPr lang="en-SE" sz="4200" b="1" dirty="0">
                <a:solidFill>
                  <a:srgbClr val="FFFFFF"/>
                </a:solidFill>
                <a:latin typeface="Cambria" pitchFamily="34" charset="0"/>
                <a:ea typeface="Cambria" pitchFamily="34" charset="-122"/>
                <a:cs typeface="Cambria" pitchFamily="34" charset="-120"/>
              </a:rPr>
              <a:t>Generative AI-Based Kitting System</a:t>
            </a:r>
            <a:endParaRPr lang="en-US" sz="4200" dirty="0"/>
          </a:p>
        </p:txBody>
      </p:sp>
      <p:sp>
        <p:nvSpPr>
          <p:cNvPr id="5" name="Text 3"/>
          <p:cNvSpPr txBox="1"/>
          <p:nvPr/>
        </p:nvSpPr>
        <p:spPr>
          <a:xfrm>
            <a:off x="594360" y="3931920"/>
            <a:ext cx="8595360" cy="640080"/>
          </a:xfrm>
          <a:prstGeom prst="rect">
            <a:avLst/>
          </a:prstGeom>
          <a:noFill/>
          <a:ln/>
        </p:spPr>
        <p:txBody>
          <a:bodyPr wrap="square" lIns="0" tIns="0" rIns="0" bIns="0" rtlCol="0" anchor="ctr"/>
          <a:lstStyle/>
          <a:p>
            <a:pPr marL="0" indent="0">
              <a:buNone/>
            </a:pPr>
            <a:r>
              <a:rPr lang="en-SE" sz="1500" dirty="0">
                <a:solidFill>
                  <a:srgbClr val="C3CBD3"/>
                </a:solidFill>
                <a:latin typeface="Calibri" pitchFamily="34" charset="0"/>
                <a:ea typeface="Calibri" pitchFamily="34" charset="-122"/>
                <a:cs typeface="Calibri" pitchFamily="34" charset="-120"/>
              </a:rPr>
              <a:t>Cad-Based </a:t>
            </a:r>
            <a:r>
              <a:rPr lang="en-US" sz="1500" dirty="0">
                <a:solidFill>
                  <a:srgbClr val="C3CBD3"/>
                </a:solidFill>
                <a:latin typeface="Calibri" pitchFamily="34" charset="0"/>
                <a:ea typeface="Calibri" pitchFamily="34" charset="-122"/>
                <a:cs typeface="Calibri" pitchFamily="34" charset="-120"/>
              </a:rPr>
              <a:t>Collision</a:t>
            </a:r>
            <a:r>
              <a:rPr lang="en-SE" sz="1500" dirty="0">
                <a:solidFill>
                  <a:srgbClr val="C3CBD3"/>
                </a:solidFill>
                <a:latin typeface="Calibri" pitchFamily="34" charset="0"/>
                <a:ea typeface="Calibri" pitchFamily="34" charset="-122"/>
                <a:cs typeface="Calibri" pitchFamily="34" charset="-120"/>
              </a:rPr>
              <a:t> aware</a:t>
            </a:r>
            <a:r>
              <a:rPr lang="en-US" sz="1500" dirty="0">
                <a:solidFill>
                  <a:srgbClr val="C3CBD3"/>
                </a:solidFill>
                <a:latin typeface="Calibri" pitchFamily="34" charset="0"/>
                <a:ea typeface="Calibri" pitchFamily="34" charset="-122"/>
                <a:cs typeface="Calibri" pitchFamily="34" charset="-120"/>
              </a:rPr>
              <a:t> robotic kitting with open-source vision-language models</a:t>
            </a:r>
            <a:r>
              <a:rPr lang="en-SE" sz="1500" dirty="0">
                <a:solidFill>
                  <a:srgbClr val="C3CBD3"/>
                </a:solidFill>
                <a:latin typeface="Calibri" pitchFamily="34" charset="0"/>
                <a:ea typeface="Calibri" pitchFamily="34" charset="-122"/>
                <a:cs typeface="Calibri" pitchFamily="34" charset="-120"/>
              </a:rPr>
              <a:t>, large-language model</a:t>
            </a:r>
            <a:r>
              <a:rPr lang="en-US" sz="1500" dirty="0">
                <a:solidFill>
                  <a:srgbClr val="C3CBD3"/>
                </a:solidFill>
                <a:latin typeface="Calibri" pitchFamily="34" charset="0"/>
                <a:ea typeface="Calibri" pitchFamily="34" charset="-122"/>
                <a:cs typeface="Calibri" pitchFamily="34" charset="-120"/>
              </a:rPr>
              <a:t> and </a:t>
            </a:r>
            <a:r>
              <a:rPr lang="en-SE" sz="1500" dirty="0">
                <a:solidFill>
                  <a:srgbClr val="C3CBD3"/>
                </a:solidFill>
                <a:latin typeface="Calibri" pitchFamily="34" charset="0"/>
                <a:ea typeface="Calibri" pitchFamily="34" charset="-122"/>
                <a:cs typeface="Calibri" pitchFamily="34" charset="-120"/>
              </a:rPr>
              <a:t>Lula inverse kinematic</a:t>
            </a:r>
            <a:r>
              <a:rPr lang="en-US" sz="1500" dirty="0">
                <a:solidFill>
                  <a:srgbClr val="C3CBD3"/>
                </a:solidFill>
                <a:latin typeface="Calibri" pitchFamily="34" charset="0"/>
                <a:ea typeface="Calibri" pitchFamily="34" charset="-122"/>
                <a:cs typeface="Calibri" pitchFamily="34" charset="-120"/>
              </a:rPr>
              <a:t> motion planning</a:t>
            </a:r>
            <a:endParaRPr lang="en-US" sz="1500" dirty="0"/>
          </a:p>
        </p:txBody>
      </p:sp>
      <p:sp>
        <p:nvSpPr>
          <p:cNvPr id="6" name="Text 4"/>
          <p:cNvSpPr txBox="1"/>
          <p:nvPr/>
        </p:nvSpPr>
        <p:spPr>
          <a:xfrm>
            <a:off x="594360" y="5029200"/>
            <a:ext cx="7315200" cy="320040"/>
          </a:xfrm>
          <a:prstGeom prst="rect">
            <a:avLst/>
          </a:prstGeom>
          <a:noFill/>
          <a:ln/>
        </p:spPr>
        <p:txBody>
          <a:bodyPr wrap="square" lIns="0" tIns="0" rIns="0" bIns="0" rtlCol="0" anchor="ctr"/>
          <a:lstStyle/>
          <a:p>
            <a:pPr marL="0" indent="0">
              <a:buNone/>
            </a:pPr>
            <a:r>
              <a:rPr lang="en-US" sz="1300" dirty="0">
                <a:solidFill>
                  <a:srgbClr val="9AA4AE"/>
                </a:solidFill>
                <a:latin typeface="Calibri" pitchFamily="34" charset="0"/>
                <a:ea typeface="Calibri" pitchFamily="34" charset="-122"/>
                <a:cs typeface="Calibri" pitchFamily="34" charset="-120"/>
              </a:rPr>
              <a:t>Parth Kadiya   ·   Chalmers Industriteknik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ear_grasping_2x">
            <a:hlinkClick r:id="" action="ppaction://media"/>
            <a:extLst>
              <a:ext uri="{FF2B5EF4-FFF2-40B4-BE49-F238E27FC236}">
                <a16:creationId xmlns:a16="http://schemas.microsoft.com/office/drawing/2014/main" id="{1CDF4F08-6770-58E5-376E-0B1C0ED35EA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67236"/>
            <a:ext cx="12192000" cy="6723527"/>
          </a:xfrm>
          <a:prstGeom prst="rect">
            <a:avLst/>
          </a:prstGeom>
        </p:spPr>
      </p:pic>
    </p:spTree>
    <p:extLst>
      <p:ext uri="{BB962C8B-B14F-4D97-AF65-F5344CB8AC3E}">
        <p14:creationId xmlns:p14="http://schemas.microsoft.com/office/powerpoint/2010/main" val="238861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666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a:extLst>
            <a:ext uri="{FF2B5EF4-FFF2-40B4-BE49-F238E27FC236}">
              <a16:creationId xmlns:a16="http://schemas.microsoft.com/office/drawing/2014/main" id="{0394692B-392A-0ABA-71F2-488479667C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9D4CDEA-F4D3-FB14-FD5E-6B4BBBC327FF}"/>
              </a:ext>
            </a:extLst>
          </p:cNvPr>
          <p:cNvSpPr/>
          <p:nvPr/>
        </p:nvSpPr>
        <p:spPr>
          <a:xfrm>
            <a:off x="9692640" y="-1371600"/>
            <a:ext cx="4754880" cy="4754880"/>
          </a:xfrm>
          <a:prstGeom prst="ellipse">
            <a:avLst/>
          </a:prstGeom>
          <a:solidFill>
            <a:srgbClr val="2E3740"/>
          </a:solidFill>
          <a:ln/>
        </p:spPr>
        <p:txBody>
          <a:bodyPr/>
          <a:lstStyle/>
          <a:p>
            <a:endParaRPr lang="en-SE"/>
          </a:p>
        </p:txBody>
      </p:sp>
      <p:sp>
        <p:nvSpPr>
          <p:cNvPr id="3" name="Text 1">
            <a:extLst>
              <a:ext uri="{FF2B5EF4-FFF2-40B4-BE49-F238E27FC236}">
                <a16:creationId xmlns:a16="http://schemas.microsoft.com/office/drawing/2014/main" id="{E57A58D5-607D-6F49-2B2F-D2E1E1C50481}"/>
              </a:ext>
            </a:extLst>
          </p:cNvPr>
          <p:cNvSpPr txBox="1"/>
          <p:nvPr/>
        </p:nvSpPr>
        <p:spPr>
          <a:xfrm>
            <a:off x="594360" y="1600200"/>
            <a:ext cx="11000232" cy="274320"/>
          </a:xfrm>
          <a:prstGeom prst="rect">
            <a:avLst/>
          </a:prstGeom>
          <a:noFill/>
          <a:ln/>
        </p:spPr>
        <p:txBody>
          <a:bodyPr wrap="square" lIns="0" tIns="0" rIns="0" bIns="0" rtlCol="0" anchor="ctr"/>
          <a:lstStyle/>
          <a:p>
            <a:pPr marL="0" indent="0">
              <a:buNone/>
            </a:pPr>
            <a:r>
              <a:rPr lang="en-US" sz="1200" b="1" kern="0" spc="200" dirty="0">
                <a:solidFill>
                  <a:srgbClr val="F59B14"/>
                </a:solidFill>
                <a:latin typeface="Calibri" pitchFamily="34" charset="0"/>
                <a:ea typeface="Calibri" pitchFamily="34" charset="-122"/>
                <a:cs typeface="Calibri" pitchFamily="34" charset="-120"/>
              </a:rPr>
              <a:t>PROGRESS REVIEW  ·  JULY – SEPTEMBER 2026</a:t>
            </a:r>
            <a:endParaRPr lang="en-US" sz="1200" dirty="0"/>
          </a:p>
        </p:txBody>
      </p:sp>
      <p:sp>
        <p:nvSpPr>
          <p:cNvPr id="4" name="Text 2">
            <a:extLst>
              <a:ext uri="{FF2B5EF4-FFF2-40B4-BE49-F238E27FC236}">
                <a16:creationId xmlns:a16="http://schemas.microsoft.com/office/drawing/2014/main" id="{4862829D-3B8B-8C39-921A-C32131FE79FC}"/>
              </a:ext>
            </a:extLst>
          </p:cNvPr>
          <p:cNvSpPr txBox="1"/>
          <p:nvPr/>
        </p:nvSpPr>
        <p:spPr>
          <a:xfrm>
            <a:off x="594360" y="2011680"/>
            <a:ext cx="8778240" cy="1737360"/>
          </a:xfrm>
          <a:prstGeom prst="rect">
            <a:avLst/>
          </a:prstGeom>
          <a:noFill/>
          <a:ln/>
        </p:spPr>
        <p:txBody>
          <a:bodyPr wrap="square" lIns="0" tIns="0" rIns="0" bIns="0" rtlCol="0" anchor="ctr"/>
          <a:lstStyle/>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From Point Clouds to</a:t>
            </a:r>
            <a:endParaRPr lang="en-US" sz="4200" dirty="0"/>
          </a:p>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Depth-Native Planning</a:t>
            </a:r>
            <a:endParaRPr lang="en-US" sz="4200" dirty="0"/>
          </a:p>
        </p:txBody>
      </p:sp>
      <p:sp>
        <p:nvSpPr>
          <p:cNvPr id="5" name="Text 3">
            <a:extLst>
              <a:ext uri="{FF2B5EF4-FFF2-40B4-BE49-F238E27FC236}">
                <a16:creationId xmlns:a16="http://schemas.microsoft.com/office/drawing/2014/main" id="{A5D2606E-2F87-1206-B041-D0C44BD49594}"/>
              </a:ext>
            </a:extLst>
          </p:cNvPr>
          <p:cNvSpPr txBox="1"/>
          <p:nvPr/>
        </p:nvSpPr>
        <p:spPr>
          <a:xfrm>
            <a:off x="594360" y="3931920"/>
            <a:ext cx="8595360" cy="640080"/>
          </a:xfrm>
          <a:prstGeom prst="rect">
            <a:avLst/>
          </a:prstGeom>
          <a:noFill/>
          <a:ln/>
        </p:spPr>
        <p:txBody>
          <a:bodyPr wrap="square" lIns="0" tIns="0" rIns="0" bIns="0" rtlCol="0" anchor="ctr"/>
          <a:lstStyle/>
          <a:p>
            <a:pPr marL="0" indent="0">
              <a:buNone/>
            </a:pPr>
            <a:r>
              <a:rPr lang="en-US" sz="1500" dirty="0">
                <a:solidFill>
                  <a:srgbClr val="C3CBD3"/>
                </a:solidFill>
                <a:latin typeface="Calibri" pitchFamily="34" charset="0"/>
                <a:ea typeface="Calibri" pitchFamily="34" charset="-122"/>
                <a:cs typeface="Calibri" pitchFamily="34" charset="-120"/>
              </a:rPr>
              <a:t>Collision-aware robotic kitting with open-source vision-language models and GPU motion planning</a:t>
            </a:r>
            <a:endParaRPr lang="en-US" sz="1500" dirty="0"/>
          </a:p>
        </p:txBody>
      </p:sp>
    </p:spTree>
    <p:extLst>
      <p:ext uri="{BB962C8B-B14F-4D97-AF65-F5344CB8AC3E}">
        <p14:creationId xmlns:p14="http://schemas.microsoft.com/office/powerpoint/2010/main" val="1146893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CONTEXT</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What the system does</a:t>
            </a:r>
            <a:endParaRPr lang="en-US" sz="3200" dirty="0"/>
          </a:p>
        </p:txBody>
      </p:sp>
      <p:sp>
        <p:nvSpPr>
          <p:cNvPr id="4" name="Text 2"/>
          <p:cNvSpPr txBox="1"/>
          <p:nvPr/>
        </p:nvSpPr>
        <p:spPr>
          <a:xfrm>
            <a:off x="594360" y="1371600"/>
            <a:ext cx="7680960" cy="548640"/>
          </a:xfrm>
          <a:prstGeom prst="rect">
            <a:avLst/>
          </a:prstGeom>
          <a:noFill/>
          <a:ln/>
        </p:spPr>
        <p:txBody>
          <a:bodyPr wrap="square" lIns="0" tIns="0" rIns="0" bIns="0" rtlCol="0" anchor="ctr"/>
          <a:lstStyle/>
          <a:p>
            <a:pPr marL="0" indent="0">
              <a:buNone/>
            </a:pPr>
            <a:r>
              <a:rPr lang="en-US" sz="1450" dirty="0">
                <a:solidFill>
                  <a:srgbClr val="3A434C"/>
                </a:solidFill>
                <a:latin typeface="Calibri" pitchFamily="34" charset="0"/>
                <a:ea typeface="Calibri" pitchFamily="34" charset="-122"/>
                <a:cs typeface="Calibri" pitchFamily="34" charset="-120"/>
              </a:rPr>
              <a:t>A natural-language instruction becomes collision-free robot motion, with no hand-coded part positions anywhere in the pipeline.</a:t>
            </a:r>
            <a:endParaRPr lang="en-US" sz="1450" dirty="0"/>
          </a:p>
        </p:txBody>
      </p:sp>
      <p:sp>
        <p:nvSpPr>
          <p:cNvPr id="5" name="Shape 3"/>
          <p:cNvSpPr/>
          <p:nvPr/>
        </p:nvSpPr>
        <p:spPr>
          <a:xfrm>
            <a:off x="594360" y="2148840"/>
            <a:ext cx="7772400" cy="1170432"/>
          </a:xfrm>
          <a:prstGeom prst="roundRect">
            <a:avLst>
              <a:gd name="adj" fmla="val 4688"/>
            </a:avLst>
          </a:prstGeom>
          <a:solidFill>
            <a:srgbClr val="FFFFFF"/>
          </a:solidFill>
          <a:ln w="12700">
            <a:solidFill>
              <a:srgbClr val="E1E6EA"/>
            </a:solidFill>
            <a:prstDash val="solid"/>
          </a:ln>
        </p:spPr>
        <p:txBody>
          <a:bodyPr/>
          <a:lstStyle/>
          <a:p>
            <a:endParaRPr lang="en-SE"/>
          </a:p>
        </p:txBody>
      </p:sp>
      <p:sp>
        <p:nvSpPr>
          <p:cNvPr id="6" name="Shape 4"/>
          <p:cNvSpPr/>
          <p:nvPr/>
        </p:nvSpPr>
        <p:spPr>
          <a:xfrm>
            <a:off x="886968" y="2560320"/>
            <a:ext cx="347472" cy="347472"/>
          </a:xfrm>
          <a:prstGeom prst="ellipse">
            <a:avLst/>
          </a:prstGeom>
          <a:solidFill>
            <a:srgbClr val="F59B14"/>
          </a:solidFill>
          <a:ln/>
        </p:spPr>
        <p:txBody>
          <a:bodyPr/>
          <a:lstStyle/>
          <a:p>
            <a:endParaRPr lang="en-SE"/>
          </a:p>
        </p:txBody>
      </p:sp>
      <p:sp>
        <p:nvSpPr>
          <p:cNvPr id="7" name="Text 5"/>
          <p:cNvSpPr txBox="1"/>
          <p:nvPr/>
        </p:nvSpPr>
        <p:spPr>
          <a:xfrm>
            <a:off x="886968" y="25603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35608" y="2368296"/>
            <a:ext cx="6675120" cy="301752"/>
          </a:xfrm>
          <a:prstGeom prst="rect">
            <a:avLst/>
          </a:prstGeom>
          <a:noFill/>
          <a:ln/>
        </p:spPr>
        <p:txBody>
          <a:bodyPr wrap="square" lIns="0" tIns="0" rIns="0" bIns="0" rtlCol="0" anchor="ctr"/>
          <a:lstStyle/>
          <a:p>
            <a:pPr marL="0" indent="0">
              <a:buNone/>
            </a:pPr>
            <a:r>
              <a:rPr lang="en-US" sz="1500" b="1" dirty="0">
                <a:solidFill>
                  <a:srgbClr val="232A31"/>
                </a:solidFill>
                <a:latin typeface="Calibri" pitchFamily="34" charset="0"/>
                <a:ea typeface="Calibri" pitchFamily="34" charset="-122"/>
                <a:cs typeface="Calibri" pitchFamily="34" charset="-120"/>
              </a:rPr>
              <a:t>Perception</a:t>
            </a:r>
            <a:endParaRPr lang="en-US" sz="1500" dirty="0"/>
          </a:p>
        </p:txBody>
      </p:sp>
      <p:sp>
        <p:nvSpPr>
          <p:cNvPr id="9" name="Text 7"/>
          <p:cNvSpPr txBox="1"/>
          <p:nvPr/>
        </p:nvSpPr>
        <p:spPr>
          <a:xfrm>
            <a:off x="1435608" y="2697480"/>
            <a:ext cx="6675120" cy="502920"/>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Open-source VLM grounds parts in the image; depth projection lifts them to 3D world coordinates.</a:t>
            </a:r>
            <a:endParaRPr lang="en-US" sz="1200" dirty="0"/>
          </a:p>
        </p:txBody>
      </p:sp>
      <p:sp>
        <p:nvSpPr>
          <p:cNvPr id="10" name="Shape 8"/>
          <p:cNvSpPr/>
          <p:nvPr/>
        </p:nvSpPr>
        <p:spPr>
          <a:xfrm>
            <a:off x="594360" y="3483864"/>
            <a:ext cx="7772400" cy="1170432"/>
          </a:xfrm>
          <a:prstGeom prst="roundRect">
            <a:avLst>
              <a:gd name="adj" fmla="val 4688"/>
            </a:avLst>
          </a:prstGeom>
          <a:solidFill>
            <a:srgbClr val="FFFFFF"/>
          </a:solidFill>
          <a:ln w="12700">
            <a:solidFill>
              <a:srgbClr val="E1E6EA"/>
            </a:solidFill>
            <a:prstDash val="solid"/>
          </a:ln>
        </p:spPr>
        <p:txBody>
          <a:bodyPr/>
          <a:lstStyle/>
          <a:p>
            <a:endParaRPr lang="en-SE"/>
          </a:p>
        </p:txBody>
      </p:sp>
      <p:sp>
        <p:nvSpPr>
          <p:cNvPr id="11" name="Shape 9"/>
          <p:cNvSpPr/>
          <p:nvPr/>
        </p:nvSpPr>
        <p:spPr>
          <a:xfrm>
            <a:off x="886968" y="3895344"/>
            <a:ext cx="347472" cy="347472"/>
          </a:xfrm>
          <a:prstGeom prst="ellipse">
            <a:avLst/>
          </a:prstGeom>
          <a:solidFill>
            <a:srgbClr val="2E8B7A"/>
          </a:solidFill>
          <a:ln/>
        </p:spPr>
        <p:txBody>
          <a:bodyPr/>
          <a:lstStyle/>
          <a:p>
            <a:endParaRPr lang="en-SE"/>
          </a:p>
        </p:txBody>
      </p:sp>
      <p:sp>
        <p:nvSpPr>
          <p:cNvPr id="12" name="Text 10"/>
          <p:cNvSpPr txBox="1"/>
          <p:nvPr/>
        </p:nvSpPr>
        <p:spPr>
          <a:xfrm>
            <a:off x="886968" y="389534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435608" y="3703320"/>
            <a:ext cx="6675120" cy="301752"/>
          </a:xfrm>
          <a:prstGeom prst="rect">
            <a:avLst/>
          </a:prstGeom>
          <a:noFill/>
          <a:ln/>
        </p:spPr>
        <p:txBody>
          <a:bodyPr wrap="square" lIns="0" tIns="0" rIns="0" bIns="0" rtlCol="0" anchor="ctr"/>
          <a:lstStyle/>
          <a:p>
            <a:pPr marL="0" indent="0">
              <a:buNone/>
            </a:pPr>
            <a:r>
              <a:rPr lang="en-US" sz="1500" b="1" dirty="0">
                <a:solidFill>
                  <a:srgbClr val="232A31"/>
                </a:solidFill>
                <a:latin typeface="Calibri" pitchFamily="34" charset="0"/>
                <a:ea typeface="Calibri" pitchFamily="34" charset="-122"/>
                <a:cs typeface="Calibri" pitchFamily="34" charset="-120"/>
              </a:rPr>
              <a:t>Orchestration</a:t>
            </a:r>
            <a:endParaRPr lang="en-US" sz="1500" dirty="0"/>
          </a:p>
        </p:txBody>
      </p:sp>
      <p:sp>
        <p:nvSpPr>
          <p:cNvPr id="14" name="Text 12"/>
          <p:cNvSpPr txBox="1"/>
          <p:nvPr/>
        </p:nvSpPr>
        <p:spPr>
          <a:xfrm>
            <a:off x="1435608" y="4032504"/>
            <a:ext cx="6675120" cy="502920"/>
          </a:xfrm>
          <a:prstGeom prst="rect">
            <a:avLst/>
          </a:prstGeom>
          <a:noFill/>
          <a:ln/>
        </p:spPr>
        <p:txBody>
          <a:bodyPr wrap="square" lIns="0" tIns="0" rIns="0" bIns="0" rtlCol="0" anchor="ctr"/>
          <a:lstStyle/>
          <a:p>
            <a:pPr marL="0" indent="0">
              <a:buNone/>
            </a:pPr>
            <a:r>
              <a:rPr lang="en-SE" sz="1200" dirty="0">
                <a:solidFill>
                  <a:srgbClr val="3A434C"/>
                </a:solidFill>
                <a:latin typeface="Calibri" pitchFamily="34" charset="0"/>
                <a:ea typeface="Calibri" pitchFamily="34" charset="-122"/>
                <a:cs typeface="Calibri" pitchFamily="34" charset="-120"/>
              </a:rPr>
              <a:t>V</a:t>
            </a:r>
            <a:r>
              <a:rPr lang="en-US" sz="1200" dirty="0">
                <a:solidFill>
                  <a:srgbClr val="3A434C"/>
                </a:solidFill>
                <a:latin typeface="Calibri" pitchFamily="34" charset="0"/>
                <a:ea typeface="Calibri" pitchFamily="34" charset="-122"/>
                <a:cs typeface="Calibri" pitchFamily="34" charset="-120"/>
              </a:rPr>
              <a:t>LM turns the command plus the grounded scene into a validated sequence of atomic robot skills.</a:t>
            </a:r>
            <a:endParaRPr lang="en-US" sz="1200" dirty="0"/>
          </a:p>
        </p:txBody>
      </p:sp>
      <p:sp>
        <p:nvSpPr>
          <p:cNvPr id="15" name="Shape 13"/>
          <p:cNvSpPr/>
          <p:nvPr/>
        </p:nvSpPr>
        <p:spPr>
          <a:xfrm>
            <a:off x="594360" y="4818888"/>
            <a:ext cx="7772400" cy="1170432"/>
          </a:xfrm>
          <a:prstGeom prst="roundRect">
            <a:avLst>
              <a:gd name="adj" fmla="val 4688"/>
            </a:avLst>
          </a:prstGeom>
          <a:solidFill>
            <a:srgbClr val="FFFFFF"/>
          </a:solidFill>
          <a:ln w="12700">
            <a:solidFill>
              <a:srgbClr val="E1E6EA"/>
            </a:solidFill>
            <a:prstDash val="solid"/>
          </a:ln>
        </p:spPr>
        <p:txBody>
          <a:bodyPr/>
          <a:lstStyle/>
          <a:p>
            <a:endParaRPr lang="en-SE"/>
          </a:p>
        </p:txBody>
      </p:sp>
      <p:sp>
        <p:nvSpPr>
          <p:cNvPr id="16" name="Shape 14"/>
          <p:cNvSpPr/>
          <p:nvPr/>
        </p:nvSpPr>
        <p:spPr>
          <a:xfrm>
            <a:off x="886968" y="5230368"/>
            <a:ext cx="347472" cy="347472"/>
          </a:xfrm>
          <a:prstGeom prst="ellipse">
            <a:avLst/>
          </a:prstGeom>
          <a:solidFill>
            <a:srgbClr val="5B7EA6"/>
          </a:solidFill>
          <a:ln/>
        </p:spPr>
        <p:txBody>
          <a:bodyPr/>
          <a:lstStyle/>
          <a:p>
            <a:endParaRPr lang="en-SE"/>
          </a:p>
        </p:txBody>
      </p:sp>
      <p:sp>
        <p:nvSpPr>
          <p:cNvPr id="17" name="Text 15"/>
          <p:cNvSpPr txBox="1"/>
          <p:nvPr/>
        </p:nvSpPr>
        <p:spPr>
          <a:xfrm>
            <a:off x="886968" y="52303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35608" y="5038344"/>
            <a:ext cx="6675120" cy="301752"/>
          </a:xfrm>
          <a:prstGeom prst="rect">
            <a:avLst/>
          </a:prstGeom>
          <a:noFill/>
          <a:ln/>
        </p:spPr>
        <p:txBody>
          <a:bodyPr wrap="square" lIns="0" tIns="0" rIns="0" bIns="0" rtlCol="0" anchor="ctr"/>
          <a:lstStyle/>
          <a:p>
            <a:pPr marL="0" indent="0">
              <a:buNone/>
            </a:pPr>
            <a:r>
              <a:rPr lang="en-US" sz="1500" b="1" dirty="0">
                <a:solidFill>
                  <a:srgbClr val="232A31"/>
                </a:solidFill>
                <a:latin typeface="Calibri" pitchFamily="34" charset="0"/>
                <a:ea typeface="Calibri" pitchFamily="34" charset="-122"/>
                <a:cs typeface="Calibri" pitchFamily="34" charset="-120"/>
              </a:rPr>
              <a:t>Execution</a:t>
            </a:r>
            <a:endParaRPr lang="en-US" sz="1500" dirty="0"/>
          </a:p>
        </p:txBody>
      </p:sp>
      <p:sp>
        <p:nvSpPr>
          <p:cNvPr id="19" name="Text 17"/>
          <p:cNvSpPr txBox="1"/>
          <p:nvPr/>
        </p:nvSpPr>
        <p:spPr>
          <a:xfrm>
            <a:off x="1435608" y="5367528"/>
            <a:ext cx="6675120" cy="502920"/>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GPU motion planning produces collision-free trajectories; the arm executes them under sensor feedback.</a:t>
            </a:r>
            <a:endParaRPr lang="en-US" sz="1200" dirty="0"/>
          </a:p>
        </p:txBody>
      </p:sp>
      <p:sp>
        <p:nvSpPr>
          <p:cNvPr id="20" name="Shape 18"/>
          <p:cNvSpPr/>
          <p:nvPr/>
        </p:nvSpPr>
        <p:spPr>
          <a:xfrm>
            <a:off x="8686800" y="2148840"/>
            <a:ext cx="2907792" cy="4014216"/>
          </a:xfrm>
          <a:prstGeom prst="roundRect">
            <a:avLst>
              <a:gd name="adj" fmla="val 1887"/>
            </a:avLst>
          </a:prstGeom>
          <a:solidFill>
            <a:srgbClr val="232A31"/>
          </a:solidFill>
          <a:ln w="12700">
            <a:solidFill>
              <a:srgbClr val="232A31"/>
            </a:solidFill>
            <a:prstDash val="solid"/>
          </a:ln>
        </p:spPr>
        <p:txBody>
          <a:bodyPr/>
          <a:lstStyle/>
          <a:p>
            <a:endParaRPr lang="en-SE"/>
          </a:p>
        </p:txBody>
      </p:sp>
      <p:sp>
        <p:nvSpPr>
          <p:cNvPr id="21" name="Text 19"/>
          <p:cNvSpPr txBox="1"/>
          <p:nvPr/>
        </p:nvSpPr>
        <p:spPr>
          <a:xfrm>
            <a:off x="8961120" y="2395728"/>
            <a:ext cx="2377440" cy="256032"/>
          </a:xfrm>
          <a:prstGeom prst="rect">
            <a:avLst/>
          </a:prstGeom>
          <a:noFill/>
          <a:ln/>
        </p:spPr>
        <p:txBody>
          <a:bodyPr wrap="square" lIns="0" tIns="0" rIns="0" bIns="0" rtlCol="0" anchor="ctr"/>
          <a:lstStyle/>
          <a:p>
            <a:pPr marL="0" indent="0">
              <a:buNone/>
            </a:pPr>
            <a:r>
              <a:rPr lang="en-US" sz="1050" b="1" kern="0" spc="150" dirty="0">
                <a:solidFill>
                  <a:srgbClr val="F59B14"/>
                </a:solidFill>
                <a:latin typeface="Calibri" pitchFamily="34" charset="0"/>
                <a:ea typeface="Calibri" pitchFamily="34" charset="-122"/>
                <a:cs typeface="Calibri" pitchFamily="34" charset="-120"/>
              </a:rPr>
              <a:t>THE CELL</a:t>
            </a:r>
            <a:endParaRPr lang="en-US" sz="1050" dirty="0"/>
          </a:p>
        </p:txBody>
      </p:sp>
      <p:sp>
        <p:nvSpPr>
          <p:cNvPr id="22" name="Text 20"/>
          <p:cNvSpPr txBox="1"/>
          <p:nvPr/>
        </p:nvSpPr>
        <p:spPr>
          <a:xfrm>
            <a:off x="8961120" y="2788920"/>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Robot</a:t>
            </a:r>
            <a:endParaRPr lang="en-US" sz="950" dirty="0"/>
          </a:p>
        </p:txBody>
      </p:sp>
      <p:sp>
        <p:nvSpPr>
          <p:cNvPr id="23" name="Text 21"/>
          <p:cNvSpPr txBox="1"/>
          <p:nvPr/>
        </p:nvSpPr>
        <p:spPr>
          <a:xfrm>
            <a:off x="8961120" y="2962656"/>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UR10, ceiling-mounted</a:t>
            </a:r>
            <a:endParaRPr lang="en-US" sz="1150" dirty="0"/>
          </a:p>
        </p:txBody>
      </p:sp>
      <p:sp>
        <p:nvSpPr>
          <p:cNvPr id="24" name="Text 22"/>
          <p:cNvSpPr txBox="1"/>
          <p:nvPr/>
        </p:nvSpPr>
        <p:spPr>
          <a:xfrm>
            <a:off x="8961120" y="3264408"/>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Extra axis</a:t>
            </a:r>
            <a:endParaRPr lang="en-US" sz="950" dirty="0"/>
          </a:p>
        </p:txBody>
      </p:sp>
      <p:sp>
        <p:nvSpPr>
          <p:cNvPr id="25" name="Text 23"/>
          <p:cNvSpPr txBox="1"/>
          <p:nvPr/>
        </p:nvSpPr>
        <p:spPr>
          <a:xfrm>
            <a:off x="8961120" y="3438144"/>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1-DOF gantry rail</a:t>
            </a:r>
            <a:endParaRPr lang="en-US" sz="1150" dirty="0"/>
          </a:p>
        </p:txBody>
      </p:sp>
      <p:sp>
        <p:nvSpPr>
          <p:cNvPr id="26" name="Text 24"/>
          <p:cNvSpPr txBox="1"/>
          <p:nvPr/>
        </p:nvSpPr>
        <p:spPr>
          <a:xfrm>
            <a:off x="8961120" y="3739896"/>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Total planned</a:t>
            </a:r>
            <a:endParaRPr lang="en-US" sz="950" dirty="0"/>
          </a:p>
        </p:txBody>
      </p:sp>
      <p:sp>
        <p:nvSpPr>
          <p:cNvPr id="27" name="Text 25"/>
          <p:cNvSpPr txBox="1"/>
          <p:nvPr/>
        </p:nvSpPr>
        <p:spPr>
          <a:xfrm>
            <a:off x="8961120" y="3913632"/>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7 DOF</a:t>
            </a:r>
            <a:endParaRPr lang="en-US" sz="1150" dirty="0"/>
          </a:p>
        </p:txBody>
      </p:sp>
      <p:sp>
        <p:nvSpPr>
          <p:cNvPr id="28" name="Text 26"/>
          <p:cNvSpPr txBox="1"/>
          <p:nvPr/>
        </p:nvSpPr>
        <p:spPr>
          <a:xfrm>
            <a:off x="8961120" y="4215384"/>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Gripper</a:t>
            </a:r>
            <a:endParaRPr lang="en-US" sz="950" dirty="0"/>
          </a:p>
        </p:txBody>
      </p:sp>
      <p:sp>
        <p:nvSpPr>
          <p:cNvPr id="29" name="Text 27"/>
          <p:cNvSpPr txBox="1"/>
          <p:nvPr/>
        </p:nvSpPr>
        <p:spPr>
          <a:xfrm>
            <a:off x="8961120" y="4389120"/>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Robotiq 2F-140</a:t>
            </a:r>
            <a:endParaRPr lang="en-US" sz="1150" dirty="0"/>
          </a:p>
        </p:txBody>
      </p:sp>
      <p:sp>
        <p:nvSpPr>
          <p:cNvPr id="30" name="Text 28"/>
          <p:cNvSpPr txBox="1"/>
          <p:nvPr/>
        </p:nvSpPr>
        <p:spPr>
          <a:xfrm>
            <a:off x="8961120" y="4690872"/>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Wrist sensor</a:t>
            </a:r>
            <a:endParaRPr lang="en-US" sz="950" dirty="0"/>
          </a:p>
        </p:txBody>
      </p:sp>
      <p:sp>
        <p:nvSpPr>
          <p:cNvPr id="31" name="Text 29"/>
          <p:cNvSpPr txBox="1"/>
          <p:nvPr/>
        </p:nvSpPr>
        <p:spPr>
          <a:xfrm>
            <a:off x="8961120" y="4864608"/>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RealSense depth</a:t>
            </a:r>
            <a:endParaRPr lang="en-US" sz="1150" dirty="0"/>
          </a:p>
        </p:txBody>
      </p:sp>
      <p:sp>
        <p:nvSpPr>
          <p:cNvPr id="32" name="Text 30"/>
          <p:cNvSpPr txBox="1"/>
          <p:nvPr/>
        </p:nvSpPr>
        <p:spPr>
          <a:xfrm>
            <a:off x="8961120" y="5166360"/>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Scene cameras</a:t>
            </a:r>
            <a:endParaRPr lang="en-US" sz="950" dirty="0"/>
          </a:p>
        </p:txBody>
      </p:sp>
      <p:sp>
        <p:nvSpPr>
          <p:cNvPr id="33" name="Text 31"/>
          <p:cNvSpPr txBox="1"/>
          <p:nvPr/>
        </p:nvSpPr>
        <p:spPr>
          <a:xfrm>
            <a:off x="8961120" y="5340096"/>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4 corner + 2 overhead</a:t>
            </a:r>
            <a:endParaRPr lang="en-US" sz="1150" dirty="0"/>
          </a:p>
        </p:txBody>
      </p:sp>
      <p:sp>
        <p:nvSpPr>
          <p:cNvPr id="34" name="Text 32"/>
          <p:cNvSpPr txBox="1"/>
          <p:nvPr/>
        </p:nvSpPr>
        <p:spPr>
          <a:xfrm>
            <a:off x="8961120" y="5641848"/>
            <a:ext cx="2331720" cy="201168"/>
          </a:xfrm>
          <a:prstGeom prst="rect">
            <a:avLst/>
          </a:prstGeom>
          <a:noFill/>
          <a:ln/>
        </p:spPr>
        <p:txBody>
          <a:bodyPr wrap="square" lIns="0" tIns="0" rIns="0" bIns="0" rtlCol="0" anchor="ctr"/>
          <a:lstStyle/>
          <a:p>
            <a:pPr marL="0" indent="0">
              <a:buNone/>
            </a:pPr>
            <a:r>
              <a:rPr lang="en-US" sz="950" dirty="0">
                <a:solidFill>
                  <a:srgbClr val="8A949E"/>
                </a:solidFill>
                <a:latin typeface="Calibri" pitchFamily="34" charset="0"/>
                <a:ea typeface="Calibri" pitchFamily="34" charset="-122"/>
                <a:cs typeface="Calibri" pitchFamily="34" charset="-120"/>
              </a:rPr>
              <a:t>Simulator</a:t>
            </a:r>
            <a:endParaRPr lang="en-US" sz="950" dirty="0"/>
          </a:p>
        </p:txBody>
      </p:sp>
      <p:sp>
        <p:nvSpPr>
          <p:cNvPr id="35" name="Text 33"/>
          <p:cNvSpPr txBox="1"/>
          <p:nvPr/>
        </p:nvSpPr>
        <p:spPr>
          <a:xfrm>
            <a:off x="8961120" y="5815584"/>
            <a:ext cx="233172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Isaac Sim 6.0.1</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Three architectural phases</a:t>
            </a:r>
            <a:endParaRPr lang="en-US" sz="3200" dirty="0"/>
          </a:p>
        </p:txBody>
      </p:sp>
      <p:sp>
        <p:nvSpPr>
          <p:cNvPr id="4" name="Shape 2"/>
          <p:cNvSpPr/>
          <p:nvPr/>
        </p:nvSpPr>
        <p:spPr>
          <a:xfrm>
            <a:off x="594360" y="1828800"/>
            <a:ext cx="2441448" cy="3200400"/>
          </a:xfrm>
          <a:prstGeom prst="roundRect">
            <a:avLst>
              <a:gd name="adj" fmla="val 2247"/>
            </a:avLst>
          </a:prstGeom>
          <a:solidFill>
            <a:srgbClr val="FFFFFF"/>
          </a:solidFill>
          <a:ln w="12700">
            <a:solidFill>
              <a:srgbClr val="E1E6EA"/>
            </a:solidFill>
            <a:prstDash val="solid"/>
          </a:ln>
        </p:spPr>
        <p:txBody>
          <a:bodyPr/>
          <a:lstStyle/>
          <a:p>
            <a:endParaRPr lang="en-SE"/>
          </a:p>
        </p:txBody>
      </p:sp>
      <p:sp>
        <p:nvSpPr>
          <p:cNvPr id="5" name="Shape 3"/>
          <p:cNvSpPr/>
          <p:nvPr/>
        </p:nvSpPr>
        <p:spPr>
          <a:xfrm>
            <a:off x="850392" y="2103120"/>
            <a:ext cx="713232" cy="329184"/>
          </a:xfrm>
          <a:prstGeom prst="roundRect">
            <a:avLst>
              <a:gd name="adj" fmla="val 13889"/>
            </a:avLst>
          </a:prstGeom>
          <a:solidFill>
            <a:srgbClr val="5B7EA6"/>
          </a:solidFill>
          <a:ln/>
        </p:spPr>
        <p:txBody>
          <a:bodyPr/>
          <a:lstStyle/>
          <a:p>
            <a:endParaRPr lang="en-SE"/>
          </a:p>
        </p:txBody>
      </p:sp>
      <p:sp>
        <p:nvSpPr>
          <p:cNvPr id="6" name="Text 4"/>
          <p:cNvSpPr txBox="1"/>
          <p:nvPr/>
        </p:nvSpPr>
        <p:spPr>
          <a:xfrm>
            <a:off x="850392" y="2103120"/>
            <a:ext cx="713232"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JUL</a:t>
            </a:r>
            <a:endParaRPr lang="en-US" sz="1100" dirty="0"/>
          </a:p>
        </p:txBody>
      </p:sp>
      <p:sp>
        <p:nvSpPr>
          <p:cNvPr id="7" name="Text 5"/>
          <p:cNvSpPr txBox="1"/>
          <p:nvPr/>
        </p:nvSpPr>
        <p:spPr>
          <a:xfrm>
            <a:off x="850392" y="2615184"/>
            <a:ext cx="1929384" cy="7315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Platform upgrade</a:t>
            </a:r>
            <a:endParaRPr lang="en-US" sz="1450" dirty="0"/>
          </a:p>
        </p:txBody>
      </p:sp>
      <p:sp>
        <p:nvSpPr>
          <p:cNvPr id="8" name="Text 6"/>
          <p:cNvSpPr txBox="1"/>
          <p:nvPr/>
        </p:nvSpPr>
        <p:spPr>
          <a:xfrm>
            <a:off x="850392" y="3383280"/>
            <a:ext cx="1929384" cy="146304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Isaac Sim 6.0.1, v2.0.1 pipeline, edge-AI optimisation of the perception stack.</a:t>
            </a:r>
            <a:endParaRPr lang="en-US" sz="1150" dirty="0"/>
          </a:p>
        </p:txBody>
      </p:sp>
      <p:sp>
        <p:nvSpPr>
          <p:cNvPr id="9" name="Shape 7"/>
          <p:cNvSpPr/>
          <p:nvPr/>
        </p:nvSpPr>
        <p:spPr>
          <a:xfrm>
            <a:off x="3447288" y="1828800"/>
            <a:ext cx="2441448" cy="3200400"/>
          </a:xfrm>
          <a:prstGeom prst="roundRect">
            <a:avLst>
              <a:gd name="adj" fmla="val 2247"/>
            </a:avLst>
          </a:prstGeom>
          <a:solidFill>
            <a:srgbClr val="FFFFFF"/>
          </a:solidFill>
          <a:ln w="12700">
            <a:solidFill>
              <a:srgbClr val="E1E6EA"/>
            </a:solidFill>
            <a:prstDash val="solid"/>
          </a:ln>
        </p:spPr>
        <p:txBody>
          <a:bodyPr/>
          <a:lstStyle/>
          <a:p>
            <a:endParaRPr lang="en-SE"/>
          </a:p>
        </p:txBody>
      </p:sp>
      <p:sp>
        <p:nvSpPr>
          <p:cNvPr id="10" name="Shape 8"/>
          <p:cNvSpPr/>
          <p:nvPr/>
        </p:nvSpPr>
        <p:spPr>
          <a:xfrm>
            <a:off x="3703320" y="2103120"/>
            <a:ext cx="713232" cy="329184"/>
          </a:xfrm>
          <a:prstGeom prst="roundRect">
            <a:avLst>
              <a:gd name="adj" fmla="val 13889"/>
            </a:avLst>
          </a:prstGeom>
          <a:solidFill>
            <a:srgbClr val="F59B14"/>
          </a:solidFill>
          <a:ln/>
        </p:spPr>
        <p:txBody>
          <a:bodyPr/>
          <a:lstStyle/>
          <a:p>
            <a:endParaRPr lang="en-SE"/>
          </a:p>
        </p:txBody>
      </p:sp>
      <p:sp>
        <p:nvSpPr>
          <p:cNvPr id="11" name="Text 9"/>
          <p:cNvSpPr txBox="1"/>
          <p:nvPr/>
        </p:nvSpPr>
        <p:spPr>
          <a:xfrm>
            <a:off x="3703320" y="2103120"/>
            <a:ext cx="713232"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AUG</a:t>
            </a:r>
            <a:endParaRPr lang="en-US" sz="1100" dirty="0"/>
          </a:p>
        </p:txBody>
      </p:sp>
      <p:sp>
        <p:nvSpPr>
          <p:cNvPr id="12" name="Text 10"/>
          <p:cNvSpPr txBox="1"/>
          <p:nvPr/>
        </p:nvSpPr>
        <p:spPr>
          <a:xfrm>
            <a:off x="3703320" y="2615184"/>
            <a:ext cx="1929384" cy="7315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Perception rearchitecture</a:t>
            </a:r>
            <a:endParaRPr lang="en-US" sz="1450" dirty="0"/>
          </a:p>
        </p:txBody>
      </p:sp>
      <p:sp>
        <p:nvSpPr>
          <p:cNvPr id="13" name="Text 11"/>
          <p:cNvSpPr txBox="1"/>
          <p:nvPr/>
        </p:nvSpPr>
        <p:spPr>
          <a:xfrm>
            <a:off x="3703320" y="3383280"/>
            <a:ext cx="1929384" cy="146304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A unified open-source VLM served by vLLM replaces the two-stage detector pipeline.</a:t>
            </a:r>
            <a:endParaRPr lang="en-US" sz="1150" dirty="0"/>
          </a:p>
        </p:txBody>
      </p:sp>
      <p:sp>
        <p:nvSpPr>
          <p:cNvPr id="14" name="Shape 12"/>
          <p:cNvSpPr/>
          <p:nvPr/>
        </p:nvSpPr>
        <p:spPr>
          <a:xfrm>
            <a:off x="6300216" y="1828800"/>
            <a:ext cx="2441448" cy="3200400"/>
          </a:xfrm>
          <a:prstGeom prst="roundRect">
            <a:avLst>
              <a:gd name="adj" fmla="val 2247"/>
            </a:avLst>
          </a:prstGeom>
          <a:solidFill>
            <a:srgbClr val="FFFFFF"/>
          </a:solidFill>
          <a:ln w="12700">
            <a:solidFill>
              <a:srgbClr val="E1E6EA"/>
            </a:solidFill>
            <a:prstDash val="solid"/>
          </a:ln>
        </p:spPr>
        <p:txBody>
          <a:bodyPr/>
          <a:lstStyle/>
          <a:p>
            <a:endParaRPr lang="en-SE"/>
          </a:p>
        </p:txBody>
      </p:sp>
      <p:sp>
        <p:nvSpPr>
          <p:cNvPr id="15" name="Shape 13"/>
          <p:cNvSpPr/>
          <p:nvPr/>
        </p:nvSpPr>
        <p:spPr>
          <a:xfrm>
            <a:off x="6556248" y="2103120"/>
            <a:ext cx="713232" cy="329184"/>
          </a:xfrm>
          <a:prstGeom prst="roundRect">
            <a:avLst>
              <a:gd name="adj" fmla="val 13889"/>
            </a:avLst>
          </a:prstGeom>
          <a:solidFill>
            <a:srgbClr val="F59B14"/>
          </a:solidFill>
          <a:ln/>
        </p:spPr>
        <p:txBody>
          <a:bodyPr/>
          <a:lstStyle/>
          <a:p>
            <a:endParaRPr lang="en-SE"/>
          </a:p>
        </p:txBody>
      </p:sp>
      <p:sp>
        <p:nvSpPr>
          <p:cNvPr id="16" name="Text 14"/>
          <p:cNvSpPr txBox="1"/>
          <p:nvPr/>
        </p:nvSpPr>
        <p:spPr>
          <a:xfrm>
            <a:off x="6556248" y="2103120"/>
            <a:ext cx="713232"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AUG</a:t>
            </a:r>
            <a:endParaRPr lang="en-US" sz="1100" dirty="0"/>
          </a:p>
        </p:txBody>
      </p:sp>
      <p:sp>
        <p:nvSpPr>
          <p:cNvPr id="17" name="Text 15"/>
          <p:cNvSpPr txBox="1"/>
          <p:nvPr/>
        </p:nvSpPr>
        <p:spPr>
          <a:xfrm>
            <a:off x="6556248" y="2615184"/>
            <a:ext cx="1929384" cy="7315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Motion rearchitecture</a:t>
            </a:r>
            <a:endParaRPr lang="en-US" sz="1450" dirty="0"/>
          </a:p>
        </p:txBody>
      </p:sp>
      <p:sp>
        <p:nvSpPr>
          <p:cNvPr id="18" name="Text 16"/>
          <p:cNvSpPr txBox="1"/>
          <p:nvPr/>
        </p:nvSpPr>
        <p:spPr>
          <a:xfrm>
            <a:off x="6556248" y="3383280"/>
            <a:ext cx="1929384" cy="146304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Per-tick inverse kinematics replaced by cuMotion trajectory planning with a point-cloud collision world.</a:t>
            </a:r>
            <a:endParaRPr lang="en-US" sz="1150" dirty="0"/>
          </a:p>
        </p:txBody>
      </p:sp>
      <p:sp>
        <p:nvSpPr>
          <p:cNvPr id="19" name="Shape 17"/>
          <p:cNvSpPr/>
          <p:nvPr/>
        </p:nvSpPr>
        <p:spPr>
          <a:xfrm>
            <a:off x="9153144" y="1828800"/>
            <a:ext cx="2441448" cy="3200400"/>
          </a:xfrm>
          <a:prstGeom prst="roundRect">
            <a:avLst>
              <a:gd name="adj" fmla="val 2247"/>
            </a:avLst>
          </a:prstGeom>
          <a:solidFill>
            <a:srgbClr val="FFFFFF"/>
          </a:solidFill>
          <a:ln w="12700">
            <a:solidFill>
              <a:srgbClr val="E1E6EA"/>
            </a:solidFill>
            <a:prstDash val="solid"/>
          </a:ln>
        </p:spPr>
        <p:txBody>
          <a:bodyPr/>
          <a:lstStyle/>
          <a:p>
            <a:endParaRPr lang="en-SE"/>
          </a:p>
        </p:txBody>
      </p:sp>
      <p:sp>
        <p:nvSpPr>
          <p:cNvPr id="20" name="Shape 18"/>
          <p:cNvSpPr/>
          <p:nvPr/>
        </p:nvSpPr>
        <p:spPr>
          <a:xfrm>
            <a:off x="9409176" y="2103120"/>
            <a:ext cx="713232" cy="329184"/>
          </a:xfrm>
          <a:prstGeom prst="roundRect">
            <a:avLst>
              <a:gd name="adj" fmla="val 13889"/>
            </a:avLst>
          </a:prstGeom>
          <a:solidFill>
            <a:srgbClr val="C4453D"/>
          </a:solidFill>
          <a:ln/>
        </p:spPr>
        <p:txBody>
          <a:bodyPr/>
          <a:lstStyle/>
          <a:p>
            <a:endParaRPr lang="en-SE"/>
          </a:p>
        </p:txBody>
      </p:sp>
      <p:sp>
        <p:nvSpPr>
          <p:cNvPr id="21" name="Text 19"/>
          <p:cNvSpPr txBox="1"/>
          <p:nvPr/>
        </p:nvSpPr>
        <p:spPr>
          <a:xfrm>
            <a:off x="9409176" y="2103120"/>
            <a:ext cx="713232"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SEP</a:t>
            </a:r>
            <a:endParaRPr lang="en-US" sz="1100" dirty="0"/>
          </a:p>
        </p:txBody>
      </p:sp>
      <p:sp>
        <p:nvSpPr>
          <p:cNvPr id="22" name="Text 20"/>
          <p:cNvSpPr txBox="1"/>
          <p:nvPr/>
        </p:nvSpPr>
        <p:spPr>
          <a:xfrm>
            <a:off x="9409176" y="2615184"/>
            <a:ext cx="1929384" cy="7315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Architectural limit found</a:t>
            </a:r>
            <a:endParaRPr lang="en-US" sz="1450" dirty="0"/>
          </a:p>
        </p:txBody>
      </p:sp>
      <p:sp>
        <p:nvSpPr>
          <p:cNvPr id="23" name="Text 21"/>
          <p:cNvSpPr txBox="1"/>
          <p:nvPr/>
        </p:nvSpPr>
        <p:spPr>
          <a:xfrm>
            <a:off x="9409176" y="3383280"/>
            <a:ext cx="1929384" cy="146304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cuMotion cannot ingest depth. Decision: move to cuRobo and nvblox.</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PHASE 1  ·  PERCEPTION</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Why an open-source VLM, self-hosted</a:t>
            </a:r>
            <a:endParaRPr lang="en-US" sz="3200" dirty="0"/>
          </a:p>
        </p:txBody>
      </p:sp>
      <p:sp>
        <p:nvSpPr>
          <p:cNvPr id="4" name="Shape 2"/>
          <p:cNvSpPr/>
          <p:nvPr/>
        </p:nvSpPr>
        <p:spPr>
          <a:xfrm>
            <a:off x="594360" y="1783080"/>
            <a:ext cx="5440680" cy="2240280"/>
          </a:xfrm>
          <a:prstGeom prst="roundRect">
            <a:avLst>
              <a:gd name="adj" fmla="val 2449"/>
            </a:avLst>
          </a:prstGeom>
          <a:solidFill>
            <a:srgbClr val="FFFFFF"/>
          </a:solidFill>
          <a:ln w="12700">
            <a:solidFill>
              <a:srgbClr val="E1E6EA"/>
            </a:solidFill>
            <a:prstDash val="solid"/>
          </a:ln>
        </p:spPr>
        <p:txBody>
          <a:bodyPr/>
          <a:lstStyle/>
          <a:p>
            <a:endParaRPr lang="en-SE"/>
          </a:p>
        </p:txBody>
      </p:sp>
      <p:sp>
        <p:nvSpPr>
          <p:cNvPr id="5" name="Text 3"/>
          <p:cNvSpPr txBox="1"/>
          <p:nvPr/>
        </p:nvSpPr>
        <p:spPr>
          <a:xfrm>
            <a:off x="868680" y="1975104"/>
            <a:ext cx="4846320" cy="256032"/>
          </a:xfrm>
          <a:prstGeom prst="rect">
            <a:avLst/>
          </a:prstGeom>
          <a:noFill/>
          <a:ln/>
        </p:spPr>
        <p:txBody>
          <a:bodyPr wrap="square" lIns="0" tIns="0" rIns="0" bIns="0" rtlCol="0" anchor="ctr"/>
          <a:lstStyle/>
          <a:p>
            <a:pPr marL="0" indent="0">
              <a:buNone/>
            </a:pPr>
            <a:r>
              <a:rPr lang="en-US" sz="1050" b="1" kern="0" spc="150" dirty="0">
                <a:solidFill>
                  <a:srgbClr val="8A949E"/>
                </a:solidFill>
                <a:latin typeface="Calibri" pitchFamily="34" charset="0"/>
                <a:ea typeface="Calibri" pitchFamily="34" charset="-122"/>
                <a:cs typeface="Calibri" pitchFamily="34" charset="-120"/>
              </a:rPr>
              <a:t>BEFORE</a:t>
            </a:r>
            <a:endParaRPr lang="en-US" sz="1050" dirty="0"/>
          </a:p>
        </p:txBody>
      </p:sp>
      <p:sp>
        <p:nvSpPr>
          <p:cNvPr id="6" name="Text 4"/>
          <p:cNvSpPr txBox="1"/>
          <p:nvPr/>
        </p:nvSpPr>
        <p:spPr>
          <a:xfrm>
            <a:off x="868680" y="2304288"/>
            <a:ext cx="4892040" cy="1600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A434C"/>
                </a:solidFill>
                <a:latin typeface="Calibri" pitchFamily="34" charset="0"/>
                <a:ea typeface="Calibri" pitchFamily="34" charset="-122"/>
                <a:cs typeface="Calibri" pitchFamily="34" charset="-120"/>
              </a:rPr>
              <a:t>Two stages: a VLM for labels, a separate OWL-V2 / Grounding-DINO detector for boxes</a:t>
            </a:r>
            <a:endParaRPr lang="en-US" sz="1200" dirty="0"/>
          </a:p>
          <a:p>
            <a:pPr marL="342900" indent="-342900">
              <a:spcAft>
                <a:spcPts val="600"/>
              </a:spcAft>
              <a:buSzPct val="100000"/>
              <a:buChar char="•"/>
            </a:pPr>
            <a:r>
              <a:rPr lang="en-US" sz="1200" dirty="0">
                <a:solidFill>
                  <a:srgbClr val="3A434C"/>
                </a:solidFill>
                <a:latin typeface="Calibri" pitchFamily="34" charset="0"/>
                <a:ea typeface="Calibri" pitchFamily="34" charset="-122"/>
                <a:cs typeface="Calibri" pitchFamily="34" charset="-120"/>
              </a:rPr>
              <a:t>Two models to serve, tune and fail independently</a:t>
            </a:r>
            <a:endParaRPr lang="en-US" sz="1200" dirty="0"/>
          </a:p>
          <a:p>
            <a:pPr marL="342900" indent="-342900">
              <a:spcAft>
                <a:spcPts val="600"/>
              </a:spcAft>
              <a:buSzPct val="100000"/>
              <a:buChar char="•"/>
            </a:pPr>
            <a:r>
              <a:rPr lang="en-US" sz="1200" dirty="0">
                <a:solidFill>
                  <a:srgbClr val="3A434C"/>
                </a:solidFill>
                <a:latin typeface="Calibri" pitchFamily="34" charset="0"/>
                <a:ea typeface="Calibri" pitchFamily="34" charset="-122"/>
                <a:cs typeface="Calibri" pitchFamily="34" charset="-120"/>
              </a:rPr>
              <a:t>A detector confidence threshold as one more tuned parameter</a:t>
            </a:r>
            <a:endParaRPr lang="en-US" sz="1200" dirty="0"/>
          </a:p>
        </p:txBody>
      </p:sp>
      <p:sp>
        <p:nvSpPr>
          <p:cNvPr id="7" name="Shape 5"/>
          <p:cNvSpPr/>
          <p:nvPr/>
        </p:nvSpPr>
        <p:spPr>
          <a:xfrm>
            <a:off x="6400800" y="1783080"/>
            <a:ext cx="5193792" cy="2240280"/>
          </a:xfrm>
          <a:prstGeom prst="roundRect">
            <a:avLst>
              <a:gd name="adj" fmla="val 2449"/>
            </a:avLst>
          </a:prstGeom>
          <a:solidFill>
            <a:srgbClr val="232A31"/>
          </a:solidFill>
          <a:ln w="12700">
            <a:solidFill>
              <a:srgbClr val="232A31"/>
            </a:solidFill>
            <a:prstDash val="solid"/>
          </a:ln>
        </p:spPr>
        <p:txBody>
          <a:bodyPr/>
          <a:lstStyle/>
          <a:p>
            <a:endParaRPr lang="en-SE"/>
          </a:p>
        </p:txBody>
      </p:sp>
      <p:sp>
        <p:nvSpPr>
          <p:cNvPr id="8" name="Text 6"/>
          <p:cNvSpPr txBox="1"/>
          <p:nvPr/>
        </p:nvSpPr>
        <p:spPr>
          <a:xfrm>
            <a:off x="6675120" y="1975104"/>
            <a:ext cx="4572000" cy="256032"/>
          </a:xfrm>
          <a:prstGeom prst="rect">
            <a:avLst/>
          </a:prstGeom>
          <a:noFill/>
          <a:ln/>
        </p:spPr>
        <p:txBody>
          <a:bodyPr wrap="square" lIns="0" tIns="0" rIns="0" bIns="0" rtlCol="0" anchor="ctr"/>
          <a:lstStyle/>
          <a:p>
            <a:pPr marL="0" indent="0">
              <a:buNone/>
            </a:pPr>
            <a:r>
              <a:rPr lang="en-US" sz="1050" b="1" kern="0" spc="150" dirty="0">
                <a:solidFill>
                  <a:srgbClr val="F59B14"/>
                </a:solidFill>
                <a:latin typeface="Calibri" pitchFamily="34" charset="0"/>
                <a:ea typeface="Calibri" pitchFamily="34" charset="-122"/>
                <a:cs typeface="Calibri" pitchFamily="34" charset="-120"/>
              </a:rPr>
              <a:t>NOW</a:t>
            </a:r>
            <a:endParaRPr lang="en-US" sz="1050" dirty="0"/>
          </a:p>
        </p:txBody>
      </p:sp>
      <p:sp>
        <p:nvSpPr>
          <p:cNvPr id="9" name="Text 7"/>
          <p:cNvSpPr txBox="1"/>
          <p:nvPr/>
        </p:nvSpPr>
        <p:spPr>
          <a:xfrm>
            <a:off x="6675120" y="2304288"/>
            <a:ext cx="4645152" cy="1600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D7DDE3"/>
                </a:solidFill>
                <a:latin typeface="Calibri" pitchFamily="34" charset="0"/>
                <a:ea typeface="Calibri" pitchFamily="34" charset="-122"/>
                <a:cs typeface="Calibri" pitchFamily="34" charset="-120"/>
              </a:rPr>
              <a:t>One pass: Qwen3-VL produces labels and grounded boxes together</a:t>
            </a:r>
            <a:endParaRPr lang="en-US" sz="1200" dirty="0"/>
          </a:p>
          <a:p>
            <a:pPr marL="342900" indent="-342900">
              <a:spcAft>
                <a:spcPts val="600"/>
              </a:spcAft>
              <a:buSzPct val="100000"/>
              <a:buChar char="•"/>
            </a:pPr>
            <a:r>
              <a:rPr lang="en-US" sz="1200" dirty="0">
                <a:solidFill>
                  <a:srgbClr val="D7DDE3"/>
                </a:solidFill>
                <a:latin typeface="Calibri" pitchFamily="34" charset="0"/>
                <a:ea typeface="Calibri" pitchFamily="34" charset="-122"/>
                <a:cs typeface="Calibri" pitchFamily="34" charset="-120"/>
              </a:rPr>
              <a:t>Native visual grounding — the detector stage is switched off entirely</a:t>
            </a:r>
            <a:endParaRPr lang="en-US" sz="1200" dirty="0"/>
          </a:p>
          <a:p>
            <a:pPr marL="342900" indent="-342900">
              <a:spcAft>
                <a:spcPts val="600"/>
              </a:spcAft>
              <a:buSzPct val="100000"/>
              <a:buChar char="•"/>
            </a:pPr>
            <a:r>
              <a:rPr lang="en-US" sz="1200" dirty="0">
                <a:solidFill>
                  <a:srgbClr val="D7DDE3"/>
                </a:solidFill>
                <a:latin typeface="Calibri" pitchFamily="34" charset="0"/>
                <a:ea typeface="Calibri" pitchFamily="34" charset="-122"/>
                <a:cs typeface="Calibri" pitchFamily="34" charset="-120"/>
              </a:rPr>
              <a:t>Served through vLLM on an OpenAI-compatible endpoint</a:t>
            </a:r>
            <a:endParaRPr lang="en-US" sz="1200" dirty="0"/>
          </a:p>
        </p:txBody>
      </p:sp>
      <p:sp>
        <p:nvSpPr>
          <p:cNvPr id="10" name="Text 8"/>
          <p:cNvSpPr txBox="1"/>
          <p:nvPr/>
        </p:nvSpPr>
        <p:spPr>
          <a:xfrm>
            <a:off x="594360" y="4297680"/>
            <a:ext cx="11000232" cy="320040"/>
          </a:xfrm>
          <a:prstGeom prst="rect">
            <a:avLst/>
          </a:prstGeom>
          <a:noFill/>
          <a:ln/>
        </p:spPr>
        <p:txBody>
          <a:bodyPr wrap="square" lIns="0" tIns="0" rIns="0" bIns="0" rtlCol="0" anchor="ctr"/>
          <a:lstStyle/>
          <a:p>
            <a:pPr marL="0" indent="0">
              <a:buNone/>
            </a:pPr>
            <a:r>
              <a:rPr lang="en-US" sz="1400" b="1" dirty="0">
                <a:solidFill>
                  <a:srgbClr val="232A31"/>
                </a:solidFill>
                <a:latin typeface="Calibri" pitchFamily="34" charset="0"/>
                <a:ea typeface="Calibri" pitchFamily="34" charset="-122"/>
                <a:cs typeface="Calibri" pitchFamily="34" charset="-120"/>
              </a:rPr>
              <a:t>The case does not rest on benchmark scores</a:t>
            </a:r>
            <a:endParaRPr lang="en-US" sz="1400" dirty="0"/>
          </a:p>
        </p:txBody>
      </p:sp>
      <p:sp>
        <p:nvSpPr>
          <p:cNvPr id="11" name="Shape 9"/>
          <p:cNvSpPr/>
          <p:nvPr/>
        </p:nvSpPr>
        <p:spPr>
          <a:xfrm>
            <a:off x="594360" y="4718304"/>
            <a:ext cx="274320" cy="274320"/>
          </a:xfrm>
          <a:prstGeom prst="ellipse">
            <a:avLst/>
          </a:prstGeom>
          <a:solidFill>
            <a:srgbClr val="2E8B7A"/>
          </a:solidFill>
          <a:ln/>
        </p:spPr>
        <p:txBody>
          <a:bodyPr/>
          <a:lstStyle/>
          <a:p>
            <a:endParaRPr lang="en-SE"/>
          </a:p>
        </p:txBody>
      </p:sp>
      <p:sp>
        <p:nvSpPr>
          <p:cNvPr id="12" name="Text 10"/>
          <p:cNvSpPr txBox="1"/>
          <p:nvPr/>
        </p:nvSpPr>
        <p:spPr>
          <a:xfrm>
            <a:off x="594360" y="47183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978408" y="4709160"/>
            <a:ext cx="3038856" cy="274320"/>
          </a:xfrm>
          <a:prstGeom prst="rect">
            <a:avLst/>
          </a:prstGeom>
          <a:noFill/>
          <a:ln/>
        </p:spPr>
        <p:txBody>
          <a:bodyPr wrap="square" lIns="0" tIns="0" rIns="0" bIns="0" rtlCol="0" anchor="ctr"/>
          <a:lstStyle/>
          <a:p>
            <a:pPr marL="0" indent="0">
              <a:buNone/>
            </a:pPr>
            <a:r>
              <a:rPr lang="en-US" sz="1300" b="1" dirty="0">
                <a:solidFill>
                  <a:srgbClr val="232A31"/>
                </a:solidFill>
                <a:latin typeface="Calibri" pitchFamily="34" charset="0"/>
                <a:ea typeface="Calibri" pitchFamily="34" charset="-122"/>
                <a:cs typeface="Calibri" pitchFamily="34" charset="-120"/>
              </a:rPr>
              <a:t>Deployment control</a:t>
            </a:r>
            <a:endParaRPr lang="en-US" sz="1300" dirty="0"/>
          </a:p>
        </p:txBody>
      </p:sp>
      <p:sp>
        <p:nvSpPr>
          <p:cNvPr id="14" name="Text 12"/>
          <p:cNvSpPr txBox="1"/>
          <p:nvPr/>
        </p:nvSpPr>
        <p:spPr>
          <a:xfrm>
            <a:off x="594360" y="5102352"/>
            <a:ext cx="3422904" cy="91440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Open weights, self-hosted. No external API, no per-call cost, and no image leaves the site.</a:t>
            </a:r>
            <a:endParaRPr lang="en-US" sz="1150" dirty="0"/>
          </a:p>
        </p:txBody>
      </p:sp>
      <p:sp>
        <p:nvSpPr>
          <p:cNvPr id="15" name="Shape 13"/>
          <p:cNvSpPr/>
          <p:nvPr/>
        </p:nvSpPr>
        <p:spPr>
          <a:xfrm>
            <a:off x="4383024" y="4718304"/>
            <a:ext cx="274320" cy="274320"/>
          </a:xfrm>
          <a:prstGeom prst="ellipse">
            <a:avLst/>
          </a:prstGeom>
          <a:solidFill>
            <a:srgbClr val="2E8B7A"/>
          </a:solidFill>
          <a:ln/>
        </p:spPr>
        <p:txBody>
          <a:bodyPr/>
          <a:lstStyle/>
          <a:p>
            <a:endParaRPr lang="en-SE"/>
          </a:p>
        </p:txBody>
      </p:sp>
      <p:sp>
        <p:nvSpPr>
          <p:cNvPr id="16" name="Text 14"/>
          <p:cNvSpPr txBox="1"/>
          <p:nvPr/>
        </p:nvSpPr>
        <p:spPr>
          <a:xfrm>
            <a:off x="4383024" y="47183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4767072" y="4709160"/>
            <a:ext cx="3038856" cy="274320"/>
          </a:xfrm>
          <a:prstGeom prst="rect">
            <a:avLst/>
          </a:prstGeom>
          <a:noFill/>
          <a:ln/>
        </p:spPr>
        <p:txBody>
          <a:bodyPr wrap="square" lIns="0" tIns="0" rIns="0" bIns="0" rtlCol="0" anchor="ctr"/>
          <a:lstStyle/>
          <a:p>
            <a:pPr marL="0" indent="0">
              <a:buNone/>
            </a:pPr>
            <a:r>
              <a:rPr lang="en-US" sz="1300" b="1" dirty="0">
                <a:solidFill>
                  <a:srgbClr val="232A31"/>
                </a:solidFill>
                <a:latin typeface="Calibri" pitchFamily="34" charset="0"/>
                <a:ea typeface="Calibri" pitchFamily="34" charset="-122"/>
                <a:cs typeface="Calibri" pitchFamily="34" charset="-120"/>
              </a:rPr>
              <a:t>Fewer moving parts</a:t>
            </a:r>
            <a:endParaRPr lang="en-US" sz="1300" dirty="0"/>
          </a:p>
        </p:txBody>
      </p:sp>
      <p:sp>
        <p:nvSpPr>
          <p:cNvPr id="18" name="Text 16"/>
          <p:cNvSpPr txBox="1"/>
          <p:nvPr/>
        </p:nvSpPr>
        <p:spPr>
          <a:xfrm>
            <a:off x="4383024" y="5102352"/>
            <a:ext cx="3422904" cy="91440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One model instead of two removes a whole class of stage-mismatch failures.</a:t>
            </a:r>
            <a:endParaRPr lang="en-US" sz="1150" dirty="0"/>
          </a:p>
        </p:txBody>
      </p:sp>
      <p:sp>
        <p:nvSpPr>
          <p:cNvPr id="19" name="Shape 17"/>
          <p:cNvSpPr/>
          <p:nvPr/>
        </p:nvSpPr>
        <p:spPr>
          <a:xfrm>
            <a:off x="8171688" y="4718304"/>
            <a:ext cx="274320" cy="274320"/>
          </a:xfrm>
          <a:prstGeom prst="ellipse">
            <a:avLst/>
          </a:prstGeom>
          <a:solidFill>
            <a:srgbClr val="2E8B7A"/>
          </a:solidFill>
          <a:ln/>
        </p:spPr>
        <p:txBody>
          <a:bodyPr/>
          <a:lstStyle/>
          <a:p>
            <a:endParaRPr lang="en-SE"/>
          </a:p>
        </p:txBody>
      </p:sp>
      <p:sp>
        <p:nvSpPr>
          <p:cNvPr id="20" name="Text 18"/>
          <p:cNvSpPr txBox="1"/>
          <p:nvPr/>
        </p:nvSpPr>
        <p:spPr>
          <a:xfrm>
            <a:off x="8171688" y="47183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8555736" y="4709160"/>
            <a:ext cx="3038856" cy="274320"/>
          </a:xfrm>
          <a:prstGeom prst="rect">
            <a:avLst/>
          </a:prstGeom>
          <a:noFill/>
          <a:ln/>
        </p:spPr>
        <p:txBody>
          <a:bodyPr wrap="square" lIns="0" tIns="0" rIns="0" bIns="0" rtlCol="0" anchor="ctr"/>
          <a:lstStyle/>
          <a:p>
            <a:pPr marL="0" indent="0">
              <a:buNone/>
            </a:pPr>
            <a:r>
              <a:rPr lang="en-US" sz="1300" b="1" dirty="0">
                <a:solidFill>
                  <a:srgbClr val="232A31"/>
                </a:solidFill>
                <a:latin typeface="Calibri" pitchFamily="34" charset="0"/>
                <a:ea typeface="Calibri" pitchFamily="34" charset="-122"/>
                <a:cs typeface="Calibri" pitchFamily="34" charset="-120"/>
              </a:rPr>
              <a:t>Reproducibility</a:t>
            </a:r>
            <a:endParaRPr lang="en-US" sz="1300" dirty="0"/>
          </a:p>
        </p:txBody>
      </p:sp>
      <p:sp>
        <p:nvSpPr>
          <p:cNvPr id="22" name="Text 20"/>
          <p:cNvSpPr txBox="1"/>
          <p:nvPr/>
        </p:nvSpPr>
        <p:spPr>
          <a:xfrm>
            <a:off x="8171688" y="5102352"/>
            <a:ext cx="3422904" cy="914400"/>
          </a:xfrm>
          <a:prstGeom prst="rect">
            <a:avLst/>
          </a:prstGeom>
          <a:noFill/>
          <a:ln/>
        </p:spPr>
        <p:txBody>
          <a:bodyPr wrap="square" lIns="0" tIns="0" rIns="0" bIns="0" rtlCol="0" anchor="ctr"/>
          <a:lstStyle/>
          <a:p>
            <a:pPr marL="0" indent="0">
              <a:buNone/>
            </a:pPr>
            <a:r>
              <a:rPr lang="en-US" sz="1150" dirty="0">
                <a:solidFill>
                  <a:srgbClr val="3A434C"/>
                </a:solidFill>
                <a:latin typeface="Calibri" pitchFamily="34" charset="0"/>
                <a:ea typeface="Calibri" pitchFamily="34" charset="-122"/>
                <a:cs typeface="Calibri" pitchFamily="34" charset="-120"/>
              </a:rPr>
              <a:t>Pinned open weights keep the result re-runnable.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PHASE 1  ·  METHOD</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A diagnosis worth showing</a:t>
            </a:r>
            <a:endParaRPr lang="en-US" sz="3200" dirty="0"/>
          </a:p>
        </p:txBody>
      </p:sp>
      <p:sp>
        <p:nvSpPr>
          <p:cNvPr id="4" name="Text 2"/>
          <p:cNvSpPr txBox="1"/>
          <p:nvPr/>
        </p:nvSpPr>
        <p:spPr>
          <a:xfrm>
            <a:off x="594360" y="1371600"/>
            <a:ext cx="8503920" cy="365760"/>
          </a:xfrm>
          <a:prstGeom prst="rect">
            <a:avLst/>
          </a:prstGeom>
          <a:noFill/>
          <a:ln/>
        </p:spPr>
        <p:txBody>
          <a:bodyPr wrap="square" lIns="0" tIns="0" rIns="0" bIns="0" rtlCol="0" anchor="ctr"/>
          <a:lstStyle/>
          <a:p>
            <a:pPr marL="0" indent="0">
              <a:buNone/>
            </a:pPr>
            <a:r>
              <a:rPr lang="en-US" sz="1450" dirty="0">
                <a:solidFill>
                  <a:srgbClr val="3A434C"/>
                </a:solidFill>
                <a:latin typeface="Calibri" pitchFamily="34" charset="0"/>
                <a:ea typeface="Calibri" pitchFamily="34" charset="-122"/>
                <a:cs typeface="Calibri" pitchFamily="34" charset="-120"/>
              </a:rPr>
              <a:t>Detected boxes were offset from the parts they named. The model was not at fault.</a:t>
            </a:r>
            <a:endParaRPr lang="en-US" sz="1450" dirty="0"/>
          </a:p>
        </p:txBody>
      </p:sp>
      <p:sp>
        <p:nvSpPr>
          <p:cNvPr id="13" name="Shape 11"/>
          <p:cNvSpPr/>
          <p:nvPr/>
        </p:nvSpPr>
        <p:spPr>
          <a:xfrm>
            <a:off x="9098280" y="2130083"/>
            <a:ext cx="2404872" cy="2090225"/>
          </a:xfrm>
          <a:prstGeom prst="roundRect">
            <a:avLst>
              <a:gd name="adj" fmla="val 2281"/>
            </a:avLst>
          </a:prstGeom>
          <a:solidFill>
            <a:srgbClr val="232A31"/>
          </a:solidFill>
          <a:ln w="12700">
            <a:solidFill>
              <a:srgbClr val="232A31"/>
            </a:solidFill>
            <a:prstDash val="solid"/>
          </a:ln>
        </p:spPr>
        <p:txBody>
          <a:bodyPr/>
          <a:lstStyle/>
          <a:p>
            <a:endParaRPr lang="en-SE"/>
          </a:p>
        </p:txBody>
      </p:sp>
      <p:sp>
        <p:nvSpPr>
          <p:cNvPr id="14" name="Text 12"/>
          <p:cNvSpPr txBox="1"/>
          <p:nvPr/>
        </p:nvSpPr>
        <p:spPr>
          <a:xfrm>
            <a:off x="9326880" y="2358683"/>
            <a:ext cx="1920240" cy="237744"/>
          </a:xfrm>
          <a:prstGeom prst="rect">
            <a:avLst/>
          </a:prstGeom>
          <a:noFill/>
          <a:ln/>
        </p:spPr>
        <p:txBody>
          <a:bodyPr wrap="square" lIns="0" tIns="0" rIns="0" bIns="0" rtlCol="0" anchor="ctr"/>
          <a:lstStyle/>
          <a:p>
            <a:pPr marL="0" indent="0">
              <a:buNone/>
            </a:pPr>
            <a:r>
              <a:rPr lang="en-US" sz="1000" b="1" kern="0" spc="140" dirty="0">
                <a:solidFill>
                  <a:srgbClr val="F59B14"/>
                </a:solidFill>
                <a:latin typeface="Calibri" pitchFamily="34" charset="0"/>
                <a:ea typeface="Calibri" pitchFamily="34" charset="-122"/>
                <a:cs typeface="Calibri" pitchFamily="34" charset="-120"/>
              </a:rPr>
              <a:t>TAKEAWAY</a:t>
            </a:r>
            <a:endParaRPr lang="en-US" sz="1000" dirty="0"/>
          </a:p>
        </p:txBody>
      </p:sp>
      <p:sp>
        <p:nvSpPr>
          <p:cNvPr id="15" name="Text 13"/>
          <p:cNvSpPr txBox="1"/>
          <p:nvPr/>
        </p:nvSpPr>
        <p:spPr>
          <a:xfrm>
            <a:off x="9326880" y="2724443"/>
            <a:ext cx="1947672" cy="1349326"/>
          </a:xfrm>
          <a:prstGeom prst="rect">
            <a:avLst/>
          </a:prstGeom>
          <a:noFill/>
          <a:ln/>
        </p:spPr>
        <p:txBody>
          <a:bodyPr wrap="square" lIns="0" tIns="0" rIns="0" bIns="0" rtlCol="0" anchor="ctr"/>
          <a:lstStyle/>
          <a:p>
            <a:pPr marL="0" indent="0">
              <a:buNone/>
            </a:pPr>
            <a:r>
              <a:rPr lang="en-US" sz="1150" dirty="0">
                <a:solidFill>
                  <a:srgbClr val="D7DDE3"/>
                </a:solidFill>
                <a:latin typeface="Calibri" pitchFamily="34" charset="0"/>
                <a:ea typeface="Calibri" pitchFamily="34" charset="-122"/>
                <a:cs typeface="Calibri" pitchFamily="34" charset="-120"/>
              </a:rPr>
              <a:t>The failure was an ambiguity created by own pre-processing, not a limitation of the model.</a:t>
            </a:r>
            <a:endParaRPr lang="en-US" sz="1150" dirty="0"/>
          </a:p>
          <a:p>
            <a:pPr marL="0" indent="0">
              <a:buNone/>
            </a:pPr>
            <a:endParaRPr lang="en-US" sz="1150" dirty="0"/>
          </a:p>
          <a:p>
            <a:pPr marL="0" indent="0">
              <a:buNone/>
            </a:pPr>
            <a:r>
              <a:rPr lang="en-US" sz="1150" dirty="0">
                <a:solidFill>
                  <a:srgbClr val="D7DDE3"/>
                </a:solidFill>
                <a:latin typeface="Calibri" pitchFamily="34" charset="0"/>
                <a:ea typeface="Calibri" pitchFamily="34" charset="-122"/>
                <a:cs typeface="Calibri" pitchFamily="34" charset="-120"/>
              </a:rPr>
              <a:t>Removing a stage fixed it. More tuning would not have.</a:t>
            </a:r>
            <a:endParaRPr lang="en-US" sz="1150" dirty="0"/>
          </a:p>
        </p:txBody>
      </p:sp>
      <p:graphicFrame>
        <p:nvGraphicFramePr>
          <p:cNvPr id="16" name="Table 15">
            <a:extLst>
              <a:ext uri="{FF2B5EF4-FFF2-40B4-BE49-F238E27FC236}">
                <a16:creationId xmlns:a16="http://schemas.microsoft.com/office/drawing/2014/main" id="{DD6FFA3F-5216-3A68-6A43-FD3EF53C7A4A}"/>
              </a:ext>
            </a:extLst>
          </p:cNvPr>
          <p:cNvGraphicFramePr>
            <a:graphicFrameLocks noGrp="1"/>
          </p:cNvGraphicFramePr>
          <p:nvPr>
            <p:extLst>
              <p:ext uri="{D42A27DB-BD31-4B8C-83A1-F6EECF244321}">
                <p14:modId xmlns:p14="http://schemas.microsoft.com/office/powerpoint/2010/main" val="4211605777"/>
              </p:ext>
            </p:extLst>
          </p:nvPr>
        </p:nvGraphicFramePr>
        <p:xfrm>
          <a:off x="594360" y="2403348"/>
          <a:ext cx="8128000" cy="1686560"/>
        </p:xfrm>
        <a:graphic>
          <a:graphicData uri="http://schemas.openxmlformats.org/drawingml/2006/table">
            <a:tbl>
              <a:tblPr firstRow="1" bandRow="1">
                <a:tableStyleId>{D7AC3CCA-C797-4891-BE02-D94E43425B78}</a:tableStyleId>
              </a:tblPr>
              <a:tblGrid>
                <a:gridCol w="1216855">
                  <a:extLst>
                    <a:ext uri="{9D8B030D-6E8A-4147-A177-3AD203B41FA5}">
                      <a16:colId xmlns:a16="http://schemas.microsoft.com/office/drawing/2014/main" val="1466875102"/>
                    </a:ext>
                  </a:extLst>
                </a:gridCol>
                <a:gridCol w="6911145">
                  <a:extLst>
                    <a:ext uri="{9D8B030D-6E8A-4147-A177-3AD203B41FA5}">
                      <a16:colId xmlns:a16="http://schemas.microsoft.com/office/drawing/2014/main" val="316641600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20" normalizeH="0" baseline="0" noProof="0" dirty="0">
                          <a:ln>
                            <a:noFill/>
                          </a:ln>
                          <a:solidFill>
                            <a:srgbClr val="8A949E"/>
                          </a:solidFill>
                          <a:effectLst/>
                          <a:uLnTx/>
                          <a:uFillTx/>
                          <a:latin typeface="Calibri" pitchFamily="34" charset="0"/>
                          <a:ea typeface="Calibri" pitchFamily="34" charset="-122"/>
                          <a:cs typeface="Calibri" pitchFamily="34" charset="-120"/>
                        </a:rPr>
                        <a:t>SYMPTOM</a:t>
                      </a:r>
                      <a:endParaRPr kumimoji="0" lang="en-US" sz="105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Bounding boxes visibly </a:t>
                      </a:r>
                      <a:r>
                        <a:rPr kumimoji="0" lang="en-SE"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fits</a:t>
                      </a: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from parts in the overhead view</a:t>
                      </a:r>
                      <a:r>
                        <a:rPr kumimoji="0" lang="en-SE"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but during normalisation it offsets by 66mm</a:t>
                      </a: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and grasps missing</a:t>
                      </a:r>
                      <a:r>
                        <a:rPr kumimoji="0" lang="en-SE"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in some cases</a:t>
                      </a: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a:t>
                      </a:r>
                      <a:endParaRPr kumimoji="0" lang="en-US" sz="125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20827472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20" normalizeH="0" baseline="0" noProof="0" dirty="0">
                          <a:ln>
                            <a:noFill/>
                          </a:ln>
                          <a:solidFill>
                            <a:srgbClr val="8A949E"/>
                          </a:solidFill>
                          <a:effectLst/>
                          <a:uLnTx/>
                          <a:uFillTx/>
                          <a:latin typeface="Calibri" pitchFamily="34" charset="0"/>
                          <a:ea typeface="Calibri" pitchFamily="34" charset="-122"/>
                          <a:cs typeface="Calibri" pitchFamily="34" charset="-120"/>
                        </a:rPr>
                        <a:t>MECHANISM</a:t>
                      </a:r>
                      <a:endParaRPr kumimoji="0" lang="en-US" sz="105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The pipeline re-queried the model on a small cropped region to refine each box.</a:t>
                      </a:r>
                      <a:endParaRPr kumimoji="0" lang="en-US" sz="125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9985403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20" normalizeH="0" baseline="0" noProof="0" dirty="0">
                          <a:ln>
                            <a:noFill/>
                          </a:ln>
                          <a:solidFill>
                            <a:srgbClr val="C4453D"/>
                          </a:solidFill>
                          <a:effectLst/>
                          <a:uLnTx/>
                          <a:uFillTx/>
                          <a:latin typeface="Calibri" pitchFamily="34" charset="0"/>
                          <a:ea typeface="Calibri" pitchFamily="34" charset="-122"/>
                          <a:cs typeface="Calibri" pitchFamily="34" charset="-120"/>
                        </a:rPr>
                        <a:t>ROOT CAUSE</a:t>
                      </a:r>
                      <a:endParaRPr kumimoji="0" lang="en-US" sz="105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E"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A </a:t>
                      </a: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coordinate in absolute pixels and one on the </a:t>
                      </a:r>
                      <a:r>
                        <a:rPr kumimoji="0" lang="en-US" sz="1250" b="0" i="0" u="none" strike="noStrike" kern="1200" cap="none" spc="0" normalizeH="0" baseline="0" noProof="0" dirty="0" err="1">
                          <a:ln>
                            <a:noFill/>
                          </a:ln>
                          <a:solidFill>
                            <a:srgbClr val="3A434C"/>
                          </a:solidFill>
                          <a:effectLst/>
                          <a:uLnTx/>
                          <a:uFillTx/>
                          <a:latin typeface="Calibri" pitchFamily="34" charset="0"/>
                          <a:ea typeface="Calibri" pitchFamily="34" charset="-122"/>
                          <a:cs typeface="Calibri" pitchFamily="34" charset="-120"/>
                        </a:rPr>
                        <a:t>normalised</a:t>
                      </a: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0–1000 grid span the same numeric range. The two conventions become indistinguishable, and the wrong one was decoded.</a:t>
                      </a:r>
                      <a:endParaRPr kumimoji="0" lang="en-US" sz="125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41286544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20" normalizeH="0" baseline="0" noProof="0" dirty="0">
                          <a:ln>
                            <a:noFill/>
                          </a:ln>
                          <a:solidFill>
                            <a:srgbClr val="2E8B7A"/>
                          </a:solidFill>
                          <a:effectLst/>
                          <a:uLnTx/>
                          <a:uFillTx/>
                          <a:latin typeface="Calibri" pitchFamily="34" charset="0"/>
                          <a:ea typeface="Calibri" pitchFamily="34" charset="-122"/>
                          <a:cs typeface="Calibri" pitchFamily="34" charset="-120"/>
                        </a:rPr>
                        <a:t>FIX</a:t>
                      </a:r>
                      <a:endParaRPr kumimoji="0" lang="en-US" sz="105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One full-frame pass</a:t>
                      </a:r>
                      <a:r>
                        <a:rPr kumimoji="0" lang="en-SE"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with calibrated camera</a:t>
                      </a:r>
                      <a:r>
                        <a:rPr kumimoji="0" lang="en-US" sz="1250" b="0" i="0" u="none" strike="noStrike" kern="1200" cap="none" spc="0" normalizeH="0" baseline="0" noProof="0" dirty="0">
                          <a:ln>
                            <a:noFill/>
                          </a:ln>
                          <a:solidFill>
                            <a:srgbClr val="3A434C"/>
                          </a:solidFill>
                          <a:effectLst/>
                          <a:uLnTx/>
                          <a:uFillTx/>
                          <a:latin typeface="Calibri" pitchFamily="34" charset="0"/>
                          <a:ea typeface="Calibri" pitchFamily="34" charset="-122"/>
                          <a:cs typeface="Calibri" pitchFamily="34" charset="-120"/>
                        </a:rPr>
                        <a:t>, one unambiguous coordinate convention.</a:t>
                      </a:r>
                      <a:endParaRPr kumimoji="0" lang="en-US" sz="125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61213914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3DD5D6-134C-E651-A457-FC207A139E7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966D01-9D6A-1EBD-14C5-F3A4424C2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3943" y="643466"/>
            <a:ext cx="9904114" cy="5571067"/>
          </a:xfrm>
          <a:prstGeom prst="rect">
            <a:avLst/>
          </a:prstGeom>
        </p:spPr>
      </p:pic>
    </p:spTree>
    <p:extLst>
      <p:ext uri="{BB962C8B-B14F-4D97-AF65-F5344CB8AC3E}">
        <p14:creationId xmlns:p14="http://schemas.microsoft.com/office/powerpoint/2010/main" val="1601159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PHASE 2  ·  MOTION</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Motion planning becomes collision-aware</a:t>
            </a:r>
            <a:endParaRPr lang="en-US" sz="3200" dirty="0"/>
          </a:p>
        </p:txBody>
      </p:sp>
      <p:sp>
        <p:nvSpPr>
          <p:cNvPr id="4" name="Shape 2"/>
          <p:cNvSpPr/>
          <p:nvPr/>
        </p:nvSpPr>
        <p:spPr>
          <a:xfrm>
            <a:off x="594360" y="1737360"/>
            <a:ext cx="5440680" cy="1371600"/>
          </a:xfrm>
          <a:prstGeom prst="roundRect">
            <a:avLst>
              <a:gd name="adj" fmla="val 4000"/>
            </a:avLst>
          </a:prstGeom>
          <a:solidFill>
            <a:srgbClr val="FFFFFF"/>
          </a:solidFill>
          <a:ln w="12700">
            <a:solidFill>
              <a:srgbClr val="E1E6EA"/>
            </a:solidFill>
            <a:prstDash val="solid"/>
          </a:ln>
        </p:spPr>
        <p:txBody>
          <a:bodyPr/>
          <a:lstStyle/>
          <a:p>
            <a:endParaRPr lang="en-SE"/>
          </a:p>
        </p:txBody>
      </p:sp>
      <p:sp>
        <p:nvSpPr>
          <p:cNvPr id="5" name="Text 3"/>
          <p:cNvSpPr txBox="1"/>
          <p:nvPr/>
        </p:nvSpPr>
        <p:spPr>
          <a:xfrm>
            <a:off x="868680" y="1938528"/>
            <a:ext cx="4846320" cy="274320"/>
          </a:xfrm>
          <a:prstGeom prst="rect">
            <a:avLst/>
          </a:prstGeom>
          <a:noFill/>
          <a:ln/>
        </p:spPr>
        <p:txBody>
          <a:bodyPr wrap="square" lIns="0" tIns="0" rIns="0" bIns="0" rtlCol="0" anchor="ctr"/>
          <a:lstStyle/>
          <a:p>
            <a:pPr marL="0" indent="0">
              <a:buNone/>
            </a:pPr>
            <a:r>
              <a:rPr lang="en-US" sz="1250" b="1" dirty="0">
                <a:solidFill>
                  <a:srgbClr val="8A949E"/>
                </a:solidFill>
                <a:latin typeface="Calibri" pitchFamily="34" charset="0"/>
                <a:ea typeface="Calibri" pitchFamily="34" charset="-122"/>
                <a:cs typeface="Calibri" pitchFamily="34" charset="-120"/>
              </a:rPr>
              <a:t>BEFORE  ·  Lula inverse kinematics</a:t>
            </a:r>
            <a:endParaRPr lang="en-US" sz="1250" dirty="0"/>
          </a:p>
        </p:txBody>
      </p:sp>
      <p:sp>
        <p:nvSpPr>
          <p:cNvPr id="6" name="Text 4"/>
          <p:cNvSpPr txBox="1"/>
          <p:nvPr/>
        </p:nvSpPr>
        <p:spPr>
          <a:xfrm>
            <a:off x="868680" y="2249424"/>
            <a:ext cx="4892040" cy="731520"/>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One joint target solved per simulation tick, with knowledge of obstacles</a:t>
            </a:r>
            <a:r>
              <a:rPr lang="en-SE" sz="1200" dirty="0">
                <a:solidFill>
                  <a:srgbClr val="3A434C"/>
                </a:solidFill>
                <a:latin typeface="Calibri" pitchFamily="34" charset="0"/>
                <a:ea typeface="Calibri" pitchFamily="34" charset="-122"/>
                <a:cs typeface="Calibri" pitchFamily="34" charset="-120"/>
              </a:rPr>
              <a:t> from </a:t>
            </a:r>
            <a:r>
              <a:rPr lang="en-SE" sz="1200" dirty="0" err="1">
                <a:solidFill>
                  <a:srgbClr val="3A434C"/>
                </a:solidFill>
                <a:latin typeface="Calibri" pitchFamily="34" charset="0"/>
                <a:ea typeface="Calibri" pitchFamily="34" charset="-122"/>
                <a:cs typeface="Calibri" pitchFamily="34" charset="-120"/>
              </a:rPr>
              <a:t>usd</a:t>
            </a:r>
            <a:r>
              <a:rPr lang="en-SE" sz="1200" dirty="0">
                <a:solidFill>
                  <a:srgbClr val="3A434C"/>
                </a:solidFill>
                <a:latin typeface="Calibri" pitchFamily="34" charset="0"/>
                <a:ea typeface="Calibri" pitchFamily="34" charset="-122"/>
                <a:cs typeface="Calibri" pitchFamily="34" charset="-120"/>
              </a:rPr>
              <a:t> files instead of camera vision</a:t>
            </a:r>
            <a:r>
              <a:rPr lang="en-US" sz="1200" dirty="0">
                <a:solidFill>
                  <a:srgbClr val="3A434C"/>
                </a:solidFill>
                <a:latin typeface="Calibri" pitchFamily="34" charset="0"/>
                <a:ea typeface="Calibri" pitchFamily="34" charset="-122"/>
                <a:cs typeface="Calibri" pitchFamily="34" charset="-120"/>
              </a:rPr>
              <a:t>. The arm moves straight at its goal and</a:t>
            </a:r>
            <a:r>
              <a:rPr lang="en-SE" sz="1200" dirty="0">
                <a:solidFill>
                  <a:srgbClr val="3A434C"/>
                </a:solidFill>
                <a:latin typeface="Calibri" pitchFamily="34" charset="0"/>
                <a:ea typeface="Calibri" pitchFamily="34" charset="-122"/>
                <a:cs typeface="Calibri" pitchFamily="34" charset="-120"/>
              </a:rPr>
              <a:t> but in real world deployment vision based obstacle awareness is more realistic</a:t>
            </a:r>
            <a:r>
              <a:rPr lang="en-US" sz="1200" dirty="0">
                <a:solidFill>
                  <a:srgbClr val="3A434C"/>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6400800" y="1737360"/>
            <a:ext cx="5193792" cy="1371600"/>
          </a:xfrm>
          <a:prstGeom prst="roundRect">
            <a:avLst>
              <a:gd name="adj" fmla="val 4000"/>
            </a:avLst>
          </a:prstGeom>
          <a:solidFill>
            <a:srgbClr val="232A31"/>
          </a:solidFill>
          <a:ln w="12700">
            <a:solidFill>
              <a:srgbClr val="232A31"/>
            </a:solidFill>
            <a:prstDash val="solid"/>
          </a:ln>
        </p:spPr>
        <p:txBody>
          <a:bodyPr/>
          <a:lstStyle/>
          <a:p>
            <a:endParaRPr lang="en-SE"/>
          </a:p>
        </p:txBody>
      </p:sp>
      <p:sp>
        <p:nvSpPr>
          <p:cNvPr id="8" name="Text 6"/>
          <p:cNvSpPr txBox="1"/>
          <p:nvPr/>
        </p:nvSpPr>
        <p:spPr>
          <a:xfrm>
            <a:off x="6675120" y="1938528"/>
            <a:ext cx="4572000" cy="274320"/>
          </a:xfrm>
          <a:prstGeom prst="rect">
            <a:avLst/>
          </a:prstGeom>
          <a:noFill/>
          <a:ln/>
        </p:spPr>
        <p:txBody>
          <a:bodyPr wrap="square" lIns="0" tIns="0" rIns="0" bIns="0" rtlCol="0" anchor="ctr"/>
          <a:lstStyle/>
          <a:p>
            <a:pPr marL="0" indent="0">
              <a:buNone/>
            </a:pPr>
            <a:r>
              <a:rPr lang="en-US" sz="1250" b="1" dirty="0">
                <a:solidFill>
                  <a:srgbClr val="F59B14"/>
                </a:solidFill>
                <a:latin typeface="Calibri" pitchFamily="34" charset="0"/>
                <a:ea typeface="Calibri" pitchFamily="34" charset="-122"/>
                <a:cs typeface="Calibri" pitchFamily="34" charset="-120"/>
              </a:rPr>
              <a:t>AFTER  ·  cuMotion trajectory planning</a:t>
            </a:r>
            <a:endParaRPr lang="en-US" sz="1250" dirty="0"/>
          </a:p>
        </p:txBody>
      </p:sp>
      <p:sp>
        <p:nvSpPr>
          <p:cNvPr id="9" name="Text 7"/>
          <p:cNvSpPr txBox="1"/>
          <p:nvPr/>
        </p:nvSpPr>
        <p:spPr>
          <a:xfrm>
            <a:off x="6675120" y="2249424"/>
            <a:ext cx="4645152" cy="731520"/>
          </a:xfrm>
          <a:prstGeom prst="rect">
            <a:avLst/>
          </a:prstGeom>
          <a:noFill/>
          <a:ln/>
        </p:spPr>
        <p:txBody>
          <a:bodyPr wrap="square" lIns="0" tIns="0" rIns="0" bIns="0" rtlCol="0" anchor="ctr"/>
          <a:lstStyle/>
          <a:p>
            <a:pPr marL="0" indent="0">
              <a:buNone/>
            </a:pPr>
            <a:r>
              <a:rPr lang="en-US" sz="1200" dirty="0">
                <a:solidFill>
                  <a:srgbClr val="D7DDE3"/>
                </a:solidFill>
                <a:latin typeface="Calibri" pitchFamily="34" charset="0"/>
                <a:ea typeface="Calibri" pitchFamily="34" charset="-122"/>
                <a:cs typeface="Calibri" pitchFamily="34" charset="-120"/>
              </a:rPr>
              <a:t>A complete collision-free trajectory planned in one call against a world model, then executed across many ticks.</a:t>
            </a:r>
            <a:r>
              <a:rPr lang="en-SE" sz="1200" dirty="0">
                <a:solidFill>
                  <a:srgbClr val="D7DDE3"/>
                </a:solidFill>
                <a:latin typeface="Calibri" pitchFamily="34" charset="0"/>
                <a:ea typeface="Calibri" pitchFamily="34" charset="-122"/>
                <a:cs typeface="Calibri" pitchFamily="34" charset="-120"/>
              </a:rPr>
              <a:t> </a:t>
            </a:r>
            <a:r>
              <a:rPr lang="en-US" sz="1200" dirty="0">
                <a:solidFill>
                  <a:srgbClr val="D7DDE3"/>
                </a:solidFill>
                <a:latin typeface="Calibri" pitchFamily="34" charset="0"/>
                <a:ea typeface="Calibri" pitchFamily="34" charset="-122"/>
                <a:cs typeface="Calibri" pitchFamily="34" charset="-120"/>
              </a:rPr>
              <a:t>T</a:t>
            </a:r>
            <a:r>
              <a:rPr lang="en-SE" sz="1200" dirty="0">
                <a:solidFill>
                  <a:srgbClr val="D7DDE3"/>
                </a:solidFill>
                <a:latin typeface="Calibri" pitchFamily="34" charset="0"/>
                <a:ea typeface="Calibri" pitchFamily="34" charset="-122"/>
                <a:cs typeface="Calibri" pitchFamily="34" charset="-120"/>
              </a:rPr>
              <a:t>he robot moved in logs but not in simulation.</a:t>
            </a:r>
            <a:endParaRPr lang="en-US" sz="1200" dirty="0"/>
          </a:p>
        </p:txBody>
      </p:sp>
      <p:sp>
        <p:nvSpPr>
          <p:cNvPr id="10" name="Text 8"/>
          <p:cNvSpPr txBox="1"/>
          <p:nvPr/>
        </p:nvSpPr>
        <p:spPr>
          <a:xfrm>
            <a:off x="594360" y="3346704"/>
            <a:ext cx="11000232" cy="320040"/>
          </a:xfrm>
          <a:prstGeom prst="rect">
            <a:avLst/>
          </a:prstGeom>
          <a:noFill/>
          <a:ln/>
        </p:spPr>
        <p:txBody>
          <a:bodyPr wrap="square" lIns="0" tIns="0" rIns="0" bIns="0" rtlCol="0" anchor="ctr"/>
          <a:lstStyle/>
          <a:p>
            <a:pPr marL="0" indent="0">
              <a:buNone/>
            </a:pPr>
            <a:r>
              <a:rPr lang="en-US" sz="1400" b="1" dirty="0">
                <a:solidFill>
                  <a:srgbClr val="232A31"/>
                </a:solidFill>
                <a:latin typeface="Calibri" pitchFamily="34" charset="0"/>
                <a:ea typeface="Calibri" pitchFamily="34" charset="-122"/>
                <a:cs typeface="Calibri" pitchFamily="34" charset="-120"/>
              </a:rPr>
              <a:t>How the collision world was built</a:t>
            </a:r>
            <a:endParaRPr lang="en-US" sz="1400" dirty="0"/>
          </a:p>
        </p:txBody>
      </p:sp>
      <p:sp>
        <p:nvSpPr>
          <p:cNvPr id="11" name="Shape 9"/>
          <p:cNvSpPr/>
          <p:nvPr/>
        </p:nvSpPr>
        <p:spPr>
          <a:xfrm>
            <a:off x="594360" y="3749040"/>
            <a:ext cx="1975104" cy="640080"/>
          </a:xfrm>
          <a:prstGeom prst="roundRect">
            <a:avLst>
              <a:gd name="adj" fmla="val 8571"/>
            </a:avLst>
          </a:prstGeom>
          <a:solidFill>
            <a:srgbClr val="FFFFFF"/>
          </a:solidFill>
          <a:ln w="12700">
            <a:solidFill>
              <a:srgbClr val="D3DAE0"/>
            </a:solidFill>
            <a:prstDash val="solid"/>
          </a:ln>
        </p:spPr>
        <p:txBody>
          <a:bodyPr/>
          <a:lstStyle/>
          <a:p>
            <a:endParaRPr lang="en-SE"/>
          </a:p>
        </p:txBody>
      </p:sp>
      <p:sp>
        <p:nvSpPr>
          <p:cNvPr id="12" name="Text 10"/>
          <p:cNvSpPr txBox="1"/>
          <p:nvPr/>
        </p:nvSpPr>
        <p:spPr>
          <a:xfrm>
            <a:off x="594360" y="3749040"/>
            <a:ext cx="1975104" cy="640080"/>
          </a:xfrm>
          <a:prstGeom prst="rect">
            <a:avLst/>
          </a:prstGeom>
          <a:noFill/>
          <a:ln/>
        </p:spPr>
        <p:txBody>
          <a:bodyPr wrap="square" lIns="0" tIns="0" rIns="0" bIns="0" rtlCol="0" anchor="ctr"/>
          <a:lstStyle/>
          <a:p>
            <a:pPr marL="0" indent="0" algn="ctr">
              <a:buNone/>
            </a:pPr>
            <a:r>
              <a:rPr lang="en-US" sz="1250" b="1" dirty="0">
                <a:solidFill>
                  <a:srgbClr val="232A31"/>
                </a:solidFill>
                <a:latin typeface="Calibri" pitchFamily="34" charset="0"/>
                <a:ea typeface="Calibri" pitchFamily="34" charset="-122"/>
                <a:cs typeface="Calibri" pitchFamily="34" charset="-120"/>
              </a:rPr>
              <a:t>6 cameras</a:t>
            </a:r>
            <a:endParaRPr lang="en-US" sz="1250" dirty="0"/>
          </a:p>
        </p:txBody>
      </p:sp>
      <p:sp>
        <p:nvSpPr>
          <p:cNvPr id="13" name="Text 11"/>
          <p:cNvSpPr txBox="1"/>
          <p:nvPr/>
        </p:nvSpPr>
        <p:spPr>
          <a:xfrm>
            <a:off x="2569464" y="3749040"/>
            <a:ext cx="310896" cy="640080"/>
          </a:xfrm>
          <a:prstGeom prst="rect">
            <a:avLst/>
          </a:prstGeom>
          <a:noFill/>
          <a:ln/>
        </p:spPr>
        <p:txBody>
          <a:bodyPr wrap="square" lIns="0" tIns="0" rIns="0" bIns="0" rtlCol="0" anchor="ctr"/>
          <a:lstStyle/>
          <a:p>
            <a:pPr marL="0" indent="0" algn="ctr">
              <a:buNone/>
            </a:pPr>
            <a:r>
              <a:rPr lang="en-US" sz="1800" dirty="0">
                <a:solidFill>
                  <a:srgbClr val="8A949E"/>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2880360" y="3749040"/>
            <a:ext cx="1975104" cy="640080"/>
          </a:xfrm>
          <a:prstGeom prst="roundRect">
            <a:avLst>
              <a:gd name="adj" fmla="val 8571"/>
            </a:avLst>
          </a:prstGeom>
          <a:solidFill>
            <a:srgbClr val="FFFFFF"/>
          </a:solidFill>
          <a:ln w="12700">
            <a:solidFill>
              <a:srgbClr val="D3DAE0"/>
            </a:solidFill>
            <a:prstDash val="solid"/>
          </a:ln>
        </p:spPr>
        <p:txBody>
          <a:bodyPr/>
          <a:lstStyle/>
          <a:p>
            <a:endParaRPr lang="en-SE"/>
          </a:p>
        </p:txBody>
      </p:sp>
      <p:sp>
        <p:nvSpPr>
          <p:cNvPr id="15" name="Text 13"/>
          <p:cNvSpPr txBox="1"/>
          <p:nvPr/>
        </p:nvSpPr>
        <p:spPr>
          <a:xfrm>
            <a:off x="2880360" y="3749040"/>
            <a:ext cx="1975104" cy="640080"/>
          </a:xfrm>
          <a:prstGeom prst="rect">
            <a:avLst/>
          </a:prstGeom>
          <a:noFill/>
          <a:ln/>
        </p:spPr>
        <p:txBody>
          <a:bodyPr wrap="square" lIns="0" tIns="0" rIns="0" bIns="0" rtlCol="0" anchor="ctr"/>
          <a:lstStyle/>
          <a:p>
            <a:pPr marL="0" indent="0" algn="ctr">
              <a:buNone/>
            </a:pPr>
            <a:r>
              <a:rPr lang="en-SE" sz="1250" b="1" dirty="0">
                <a:solidFill>
                  <a:srgbClr val="232A31"/>
                </a:solidFill>
                <a:latin typeface="Calibri" pitchFamily="34" charset="0"/>
                <a:ea typeface="Calibri" pitchFamily="34" charset="-122"/>
                <a:cs typeface="Calibri" pitchFamily="34" charset="-120"/>
              </a:rPr>
              <a:t>3D </a:t>
            </a:r>
            <a:r>
              <a:rPr lang="en-US" sz="1250" b="1" dirty="0">
                <a:solidFill>
                  <a:srgbClr val="232A31"/>
                </a:solidFill>
                <a:latin typeface="Calibri" pitchFamily="34" charset="0"/>
                <a:ea typeface="Calibri" pitchFamily="34" charset="-122"/>
                <a:cs typeface="Calibri" pitchFamily="34" charset="-120"/>
              </a:rPr>
              <a:t>point cloud</a:t>
            </a:r>
            <a:endParaRPr lang="en-US" sz="1250" dirty="0"/>
          </a:p>
        </p:txBody>
      </p:sp>
      <p:sp>
        <p:nvSpPr>
          <p:cNvPr id="16" name="Text 14"/>
          <p:cNvSpPr txBox="1"/>
          <p:nvPr/>
        </p:nvSpPr>
        <p:spPr>
          <a:xfrm>
            <a:off x="4855464" y="3749040"/>
            <a:ext cx="310896" cy="640080"/>
          </a:xfrm>
          <a:prstGeom prst="rect">
            <a:avLst/>
          </a:prstGeom>
          <a:noFill/>
          <a:ln/>
        </p:spPr>
        <p:txBody>
          <a:bodyPr wrap="square" lIns="0" tIns="0" rIns="0" bIns="0" rtlCol="0" anchor="ctr"/>
          <a:lstStyle/>
          <a:p>
            <a:pPr marL="0" indent="0" algn="ctr">
              <a:buNone/>
            </a:pPr>
            <a:r>
              <a:rPr lang="en-US" sz="1800" dirty="0">
                <a:solidFill>
                  <a:srgbClr val="8A949E"/>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166360" y="3749040"/>
            <a:ext cx="1975104" cy="640080"/>
          </a:xfrm>
          <a:prstGeom prst="roundRect">
            <a:avLst>
              <a:gd name="adj" fmla="val 8571"/>
            </a:avLst>
          </a:prstGeom>
          <a:solidFill>
            <a:srgbClr val="FFFFFF"/>
          </a:solidFill>
          <a:ln w="12700">
            <a:solidFill>
              <a:srgbClr val="D3DAE0"/>
            </a:solidFill>
            <a:prstDash val="solid"/>
          </a:ln>
        </p:spPr>
        <p:txBody>
          <a:bodyPr/>
          <a:lstStyle/>
          <a:p>
            <a:endParaRPr lang="en-SE"/>
          </a:p>
        </p:txBody>
      </p:sp>
      <p:sp>
        <p:nvSpPr>
          <p:cNvPr id="18" name="Text 16"/>
          <p:cNvSpPr txBox="1"/>
          <p:nvPr/>
        </p:nvSpPr>
        <p:spPr>
          <a:xfrm>
            <a:off x="5166360" y="3749040"/>
            <a:ext cx="1975104" cy="640080"/>
          </a:xfrm>
          <a:prstGeom prst="rect">
            <a:avLst/>
          </a:prstGeom>
          <a:noFill/>
          <a:ln/>
        </p:spPr>
        <p:txBody>
          <a:bodyPr wrap="square" lIns="0" tIns="0" rIns="0" bIns="0" rtlCol="0" anchor="ctr"/>
          <a:lstStyle/>
          <a:p>
            <a:pPr marL="0" indent="0" algn="ctr">
              <a:buNone/>
            </a:pPr>
            <a:r>
              <a:rPr lang="en-US" sz="1250" b="1" dirty="0">
                <a:solidFill>
                  <a:srgbClr val="232A31"/>
                </a:solidFill>
                <a:latin typeface="Calibri" pitchFamily="34" charset="0"/>
                <a:ea typeface="Calibri" pitchFamily="34" charset="-122"/>
                <a:cs typeface="Calibri" pitchFamily="34" charset="-120"/>
              </a:rPr>
              <a:t>voxel grid</a:t>
            </a:r>
            <a:endParaRPr lang="en-US" sz="1250" dirty="0"/>
          </a:p>
        </p:txBody>
      </p:sp>
      <p:sp>
        <p:nvSpPr>
          <p:cNvPr id="19" name="Text 17"/>
          <p:cNvSpPr txBox="1"/>
          <p:nvPr/>
        </p:nvSpPr>
        <p:spPr>
          <a:xfrm>
            <a:off x="7141464" y="3749040"/>
            <a:ext cx="310896" cy="640080"/>
          </a:xfrm>
          <a:prstGeom prst="rect">
            <a:avLst/>
          </a:prstGeom>
          <a:noFill/>
          <a:ln/>
        </p:spPr>
        <p:txBody>
          <a:bodyPr wrap="square" lIns="0" tIns="0" rIns="0" bIns="0" rtlCol="0" anchor="ctr"/>
          <a:lstStyle/>
          <a:p>
            <a:pPr marL="0" indent="0" algn="ctr">
              <a:buNone/>
            </a:pPr>
            <a:r>
              <a:rPr lang="en-US" sz="1800" dirty="0">
                <a:solidFill>
                  <a:srgbClr val="8A949E"/>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7452360" y="3749040"/>
            <a:ext cx="1975104" cy="640080"/>
          </a:xfrm>
          <a:prstGeom prst="roundRect">
            <a:avLst>
              <a:gd name="adj" fmla="val 8571"/>
            </a:avLst>
          </a:prstGeom>
          <a:solidFill>
            <a:srgbClr val="F59B14"/>
          </a:solidFill>
          <a:ln w="12700">
            <a:solidFill>
              <a:srgbClr val="F59B14"/>
            </a:solidFill>
            <a:prstDash val="solid"/>
          </a:ln>
        </p:spPr>
        <p:txBody>
          <a:bodyPr/>
          <a:lstStyle/>
          <a:p>
            <a:endParaRPr lang="en-SE"/>
          </a:p>
        </p:txBody>
      </p:sp>
      <p:sp>
        <p:nvSpPr>
          <p:cNvPr id="21" name="Text 19"/>
          <p:cNvSpPr txBox="1"/>
          <p:nvPr/>
        </p:nvSpPr>
        <p:spPr>
          <a:xfrm>
            <a:off x="7452360" y="3749040"/>
            <a:ext cx="1975104"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sphere obstacles</a:t>
            </a:r>
            <a:endParaRPr lang="en-US" sz="1250" dirty="0"/>
          </a:p>
        </p:txBody>
      </p:sp>
      <p:sp>
        <p:nvSpPr>
          <p:cNvPr id="22" name="Text 20"/>
          <p:cNvSpPr txBox="1"/>
          <p:nvPr/>
        </p:nvSpPr>
        <p:spPr>
          <a:xfrm>
            <a:off x="9427464" y="3749040"/>
            <a:ext cx="310896" cy="640080"/>
          </a:xfrm>
          <a:prstGeom prst="rect">
            <a:avLst/>
          </a:prstGeom>
          <a:noFill/>
          <a:ln/>
        </p:spPr>
        <p:txBody>
          <a:bodyPr wrap="square" lIns="0" tIns="0" rIns="0" bIns="0" rtlCol="0" anchor="ctr"/>
          <a:lstStyle/>
          <a:p>
            <a:pPr marL="0" indent="0" algn="ctr">
              <a:buNone/>
            </a:pPr>
            <a:r>
              <a:rPr lang="en-US" sz="1800" dirty="0">
                <a:solidFill>
                  <a:srgbClr val="8A949E"/>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9738360" y="3749040"/>
            <a:ext cx="1975104" cy="640080"/>
          </a:xfrm>
          <a:prstGeom prst="roundRect">
            <a:avLst>
              <a:gd name="adj" fmla="val 8571"/>
            </a:avLst>
          </a:prstGeom>
          <a:solidFill>
            <a:srgbClr val="FFFFFF"/>
          </a:solidFill>
          <a:ln w="12700">
            <a:solidFill>
              <a:srgbClr val="D3DAE0"/>
            </a:solidFill>
            <a:prstDash val="solid"/>
          </a:ln>
        </p:spPr>
        <p:txBody>
          <a:bodyPr/>
          <a:lstStyle/>
          <a:p>
            <a:endParaRPr lang="en-SE"/>
          </a:p>
        </p:txBody>
      </p:sp>
      <p:sp>
        <p:nvSpPr>
          <p:cNvPr id="24" name="Text 22"/>
          <p:cNvSpPr txBox="1"/>
          <p:nvPr/>
        </p:nvSpPr>
        <p:spPr>
          <a:xfrm>
            <a:off x="9738360" y="3749040"/>
            <a:ext cx="1975104" cy="640080"/>
          </a:xfrm>
          <a:prstGeom prst="rect">
            <a:avLst/>
          </a:prstGeom>
          <a:noFill/>
          <a:ln/>
        </p:spPr>
        <p:txBody>
          <a:bodyPr wrap="square" lIns="0" tIns="0" rIns="0" bIns="0" rtlCol="0" anchor="ctr"/>
          <a:lstStyle/>
          <a:p>
            <a:pPr marL="0" indent="0" algn="ctr">
              <a:buNone/>
            </a:pPr>
            <a:r>
              <a:rPr lang="en-US" sz="1250" b="1" dirty="0">
                <a:solidFill>
                  <a:srgbClr val="232A31"/>
                </a:solidFill>
                <a:latin typeface="Calibri" pitchFamily="34" charset="0"/>
                <a:ea typeface="Calibri" pitchFamily="34" charset="-122"/>
                <a:cs typeface="Calibri" pitchFamily="34" charset="-120"/>
              </a:rPr>
              <a:t>planner</a:t>
            </a:r>
            <a:endParaRPr lang="en-US" sz="1250" dirty="0"/>
          </a:p>
        </p:txBody>
      </p:sp>
      <p:sp>
        <p:nvSpPr>
          <p:cNvPr id="25" name="Text 23"/>
          <p:cNvSpPr txBox="1"/>
          <p:nvPr/>
        </p:nvSpPr>
        <p:spPr>
          <a:xfrm>
            <a:off x="594360" y="4754880"/>
            <a:ext cx="3200400" cy="658368"/>
          </a:xfrm>
          <a:prstGeom prst="rect">
            <a:avLst/>
          </a:prstGeom>
          <a:noFill/>
          <a:ln/>
        </p:spPr>
        <p:txBody>
          <a:bodyPr wrap="square" lIns="0" tIns="0" rIns="0" bIns="0" rtlCol="0" anchor="ctr"/>
          <a:lstStyle/>
          <a:p>
            <a:pPr marL="0" indent="0">
              <a:buNone/>
            </a:pPr>
            <a:r>
              <a:rPr lang="en-US" sz="4000" b="1" dirty="0">
                <a:solidFill>
                  <a:srgbClr val="232A31"/>
                </a:solidFill>
                <a:latin typeface="Cambria" pitchFamily="34" charset="0"/>
                <a:ea typeface="Cambria" pitchFamily="34" charset="-122"/>
                <a:cs typeface="Cambria" pitchFamily="34" charset="-120"/>
              </a:rPr>
              <a:t>1,066,741</a:t>
            </a:r>
            <a:endParaRPr lang="en-US" sz="4000" dirty="0"/>
          </a:p>
        </p:txBody>
      </p:sp>
      <p:sp>
        <p:nvSpPr>
          <p:cNvPr id="26" name="Text 24"/>
          <p:cNvSpPr txBox="1"/>
          <p:nvPr/>
        </p:nvSpPr>
        <p:spPr>
          <a:xfrm>
            <a:off x="594360" y="5413248"/>
            <a:ext cx="3200400" cy="457200"/>
          </a:xfrm>
          <a:prstGeom prst="rect">
            <a:avLst/>
          </a:prstGeom>
          <a:noFill/>
          <a:ln/>
        </p:spPr>
        <p:txBody>
          <a:bodyPr wrap="square" lIns="0" tIns="0" rIns="0" bIns="0" rtlCol="0" anchor="ctr"/>
          <a:lstStyle/>
          <a:p>
            <a:pPr marL="0" indent="0">
              <a:buNone/>
            </a:pPr>
            <a:r>
              <a:rPr lang="en-US" sz="1150" dirty="0">
                <a:solidFill>
                  <a:srgbClr val="8A949E"/>
                </a:solidFill>
                <a:latin typeface="Calibri" pitchFamily="34" charset="0"/>
                <a:ea typeface="Calibri" pitchFamily="34" charset="-122"/>
                <a:cs typeface="Calibri" pitchFamily="34" charset="-120"/>
              </a:rPr>
              <a:t>raw 3D points captured per scan cycle</a:t>
            </a:r>
            <a:endParaRPr lang="en-US" sz="1150" dirty="0"/>
          </a:p>
        </p:txBody>
      </p:sp>
      <p:sp>
        <p:nvSpPr>
          <p:cNvPr id="27" name="Text 25"/>
          <p:cNvSpPr txBox="1"/>
          <p:nvPr/>
        </p:nvSpPr>
        <p:spPr>
          <a:xfrm>
            <a:off x="4434840" y="4754880"/>
            <a:ext cx="3200400" cy="658368"/>
          </a:xfrm>
          <a:prstGeom prst="rect">
            <a:avLst/>
          </a:prstGeom>
          <a:noFill/>
          <a:ln/>
        </p:spPr>
        <p:txBody>
          <a:bodyPr wrap="square" lIns="0" tIns="0" rIns="0" bIns="0" rtlCol="0" anchor="ctr"/>
          <a:lstStyle/>
          <a:p>
            <a:pPr marL="0" indent="0">
              <a:buNone/>
            </a:pPr>
            <a:r>
              <a:rPr lang="en-US" sz="4000" b="1" dirty="0">
                <a:solidFill>
                  <a:srgbClr val="F59B14"/>
                </a:solidFill>
                <a:latin typeface="Cambria" pitchFamily="34" charset="0"/>
                <a:ea typeface="Cambria" pitchFamily="34" charset="-122"/>
                <a:cs typeface="Cambria" pitchFamily="34" charset="-120"/>
              </a:rPr>
              <a:t>6,000</a:t>
            </a:r>
            <a:endParaRPr lang="en-US" sz="4000" dirty="0"/>
          </a:p>
        </p:txBody>
      </p:sp>
      <p:sp>
        <p:nvSpPr>
          <p:cNvPr id="28" name="Text 26"/>
          <p:cNvSpPr txBox="1"/>
          <p:nvPr/>
        </p:nvSpPr>
        <p:spPr>
          <a:xfrm>
            <a:off x="4434840" y="5413248"/>
            <a:ext cx="3200400" cy="457200"/>
          </a:xfrm>
          <a:prstGeom prst="rect">
            <a:avLst/>
          </a:prstGeom>
          <a:noFill/>
          <a:ln/>
        </p:spPr>
        <p:txBody>
          <a:bodyPr wrap="square" lIns="0" tIns="0" rIns="0" bIns="0" rtlCol="0" anchor="ctr"/>
          <a:lstStyle/>
          <a:p>
            <a:pPr marL="0" indent="0">
              <a:buNone/>
            </a:pPr>
            <a:r>
              <a:rPr lang="en-US" sz="1150" dirty="0">
                <a:solidFill>
                  <a:srgbClr val="8A949E"/>
                </a:solidFill>
                <a:latin typeface="Calibri" pitchFamily="34" charset="0"/>
                <a:ea typeface="Calibri" pitchFamily="34" charset="-122"/>
                <a:cs typeface="Calibri" pitchFamily="34" charset="-120"/>
              </a:rPr>
              <a:t>sphere obstacles the planner actually received</a:t>
            </a:r>
            <a:endParaRPr lang="en-US" sz="1150" dirty="0"/>
          </a:p>
        </p:txBody>
      </p:sp>
      <p:sp>
        <p:nvSpPr>
          <p:cNvPr id="29" name="Text 27"/>
          <p:cNvSpPr txBox="1"/>
          <p:nvPr/>
        </p:nvSpPr>
        <p:spPr>
          <a:xfrm>
            <a:off x="8275320" y="4754880"/>
            <a:ext cx="3291840" cy="658368"/>
          </a:xfrm>
          <a:prstGeom prst="rect">
            <a:avLst/>
          </a:prstGeom>
          <a:noFill/>
          <a:ln/>
        </p:spPr>
        <p:txBody>
          <a:bodyPr wrap="square" lIns="0" tIns="0" rIns="0" bIns="0" rtlCol="0" anchor="ctr"/>
          <a:lstStyle/>
          <a:p>
            <a:pPr marL="0" indent="0">
              <a:buNone/>
            </a:pPr>
            <a:r>
              <a:rPr lang="en-US" sz="4000" b="1" dirty="0">
                <a:solidFill>
                  <a:srgbClr val="C4453D"/>
                </a:solidFill>
                <a:latin typeface="Cambria" pitchFamily="34" charset="0"/>
                <a:ea typeface="Cambria" pitchFamily="34" charset="-122"/>
                <a:cs typeface="Cambria" pitchFamily="34" charset="-120"/>
              </a:rPr>
              <a:t>93.8%</a:t>
            </a:r>
            <a:endParaRPr lang="en-US" sz="4000" dirty="0"/>
          </a:p>
        </p:txBody>
      </p:sp>
      <p:sp>
        <p:nvSpPr>
          <p:cNvPr id="30" name="Text 28"/>
          <p:cNvSpPr txBox="1"/>
          <p:nvPr/>
        </p:nvSpPr>
        <p:spPr>
          <a:xfrm>
            <a:off x="8275320" y="5413248"/>
            <a:ext cx="3291840" cy="457200"/>
          </a:xfrm>
          <a:prstGeom prst="rect">
            <a:avLst/>
          </a:prstGeom>
          <a:noFill/>
          <a:ln/>
        </p:spPr>
        <p:txBody>
          <a:bodyPr wrap="square" lIns="0" tIns="0" rIns="0" bIns="0" rtlCol="0" anchor="ctr"/>
          <a:lstStyle/>
          <a:p>
            <a:pPr marL="0" indent="0">
              <a:buNone/>
            </a:pPr>
            <a:r>
              <a:rPr lang="en-US" sz="1150" dirty="0">
                <a:solidFill>
                  <a:srgbClr val="8A949E"/>
                </a:solidFill>
                <a:latin typeface="Calibri" pitchFamily="34" charset="0"/>
                <a:ea typeface="Calibri" pitchFamily="34" charset="-122"/>
                <a:cs typeface="Calibri" pitchFamily="34" charset="-120"/>
              </a:rPr>
              <a:t>of the voxel map discarded to fit that budget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PHASE 2  ·  FINDINGS</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Where the point-cloud approach broke</a:t>
            </a:r>
            <a:endParaRPr lang="en-US" sz="3200" dirty="0"/>
          </a:p>
        </p:txBody>
      </p:sp>
      <p:sp>
        <p:nvSpPr>
          <p:cNvPr id="4" name="Shape 2"/>
          <p:cNvSpPr/>
          <p:nvPr/>
        </p:nvSpPr>
        <p:spPr>
          <a:xfrm>
            <a:off x="594360" y="1737360"/>
            <a:ext cx="11000232" cy="1298448"/>
          </a:xfrm>
          <a:prstGeom prst="roundRect">
            <a:avLst>
              <a:gd name="adj" fmla="val 4225"/>
            </a:avLst>
          </a:prstGeom>
          <a:solidFill>
            <a:srgbClr val="FFFFFF"/>
          </a:solidFill>
          <a:ln w="12700">
            <a:solidFill>
              <a:srgbClr val="E1E6EA"/>
            </a:solidFill>
            <a:prstDash val="solid"/>
          </a:ln>
        </p:spPr>
        <p:txBody>
          <a:bodyPr/>
          <a:lstStyle/>
          <a:p>
            <a:endParaRPr lang="en-SE"/>
          </a:p>
        </p:txBody>
      </p:sp>
      <p:sp>
        <p:nvSpPr>
          <p:cNvPr id="5" name="Shape 3"/>
          <p:cNvSpPr/>
          <p:nvPr/>
        </p:nvSpPr>
        <p:spPr>
          <a:xfrm>
            <a:off x="905256" y="2194560"/>
            <a:ext cx="310896" cy="310896"/>
          </a:xfrm>
          <a:prstGeom prst="ellipse">
            <a:avLst/>
          </a:prstGeom>
          <a:solidFill>
            <a:srgbClr val="C4453D"/>
          </a:solidFill>
          <a:ln/>
        </p:spPr>
        <p:txBody>
          <a:bodyPr/>
          <a:lstStyle/>
          <a:p>
            <a:endParaRPr lang="en-SE"/>
          </a:p>
        </p:txBody>
      </p:sp>
      <p:sp>
        <p:nvSpPr>
          <p:cNvPr id="6" name="Text 4"/>
          <p:cNvSpPr txBox="1"/>
          <p:nvPr/>
        </p:nvSpPr>
        <p:spPr>
          <a:xfrm>
            <a:off x="905256" y="21945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463040" y="1901952"/>
            <a:ext cx="10241280" cy="292608"/>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The robot became its own obstacle</a:t>
            </a:r>
            <a:endParaRPr lang="en-US" sz="1450" dirty="0"/>
          </a:p>
        </p:txBody>
      </p:sp>
      <p:sp>
        <p:nvSpPr>
          <p:cNvPr id="8" name="Text 6"/>
          <p:cNvSpPr txBox="1"/>
          <p:nvPr/>
        </p:nvSpPr>
        <p:spPr>
          <a:xfrm>
            <a:off x="1463040" y="2231136"/>
            <a:ext cx="6675120" cy="713232"/>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Every camera sees the arm, so its own surface entered the obstacle map. The planner judged the starting position to be already inside something and refused to plan at all.</a:t>
            </a:r>
            <a:endParaRPr lang="en-US" sz="1200" dirty="0"/>
          </a:p>
        </p:txBody>
      </p:sp>
      <p:sp>
        <p:nvSpPr>
          <p:cNvPr id="9" name="Text 7"/>
          <p:cNvSpPr txBox="1"/>
          <p:nvPr/>
        </p:nvSpPr>
        <p:spPr>
          <a:xfrm>
            <a:off x="8321040" y="2231136"/>
            <a:ext cx="3108960" cy="713232"/>
          </a:xfrm>
          <a:prstGeom prst="rect">
            <a:avLst/>
          </a:prstGeom>
          <a:noFill/>
          <a:ln/>
        </p:spPr>
        <p:txBody>
          <a:bodyPr wrap="square" lIns="0" tIns="0" rIns="0" bIns="0" rtlCol="0" anchor="ctr"/>
          <a:lstStyle/>
          <a:p>
            <a:pPr marL="0" indent="0">
              <a:buNone/>
            </a:pPr>
            <a:r>
              <a:rPr lang="en-US" sz="1150" i="1" dirty="0">
                <a:solidFill>
                  <a:srgbClr val="C4453D"/>
                </a:solidFill>
                <a:latin typeface="Calibri" pitchFamily="34" charset="0"/>
                <a:ea typeface="Calibri" pitchFamily="34" charset="-122"/>
                <a:cs typeface="Calibri" pitchFamily="34" charset="-120"/>
              </a:rPr>
              <a:t>Moves normally with the collision world off. Frozen with it on.</a:t>
            </a:r>
            <a:endParaRPr lang="en-US" sz="1150" dirty="0"/>
          </a:p>
        </p:txBody>
      </p:sp>
      <p:sp>
        <p:nvSpPr>
          <p:cNvPr id="10" name="Shape 8"/>
          <p:cNvSpPr/>
          <p:nvPr/>
        </p:nvSpPr>
        <p:spPr>
          <a:xfrm>
            <a:off x="594360" y="3200400"/>
            <a:ext cx="11000232" cy="1298448"/>
          </a:xfrm>
          <a:prstGeom prst="roundRect">
            <a:avLst>
              <a:gd name="adj" fmla="val 4225"/>
            </a:avLst>
          </a:prstGeom>
          <a:solidFill>
            <a:srgbClr val="FFFFFF"/>
          </a:solidFill>
          <a:ln w="12700">
            <a:solidFill>
              <a:srgbClr val="E1E6EA"/>
            </a:solidFill>
            <a:prstDash val="solid"/>
          </a:ln>
        </p:spPr>
        <p:txBody>
          <a:bodyPr/>
          <a:lstStyle/>
          <a:p>
            <a:endParaRPr lang="en-SE"/>
          </a:p>
        </p:txBody>
      </p:sp>
      <p:sp>
        <p:nvSpPr>
          <p:cNvPr id="11" name="Shape 9"/>
          <p:cNvSpPr/>
          <p:nvPr/>
        </p:nvSpPr>
        <p:spPr>
          <a:xfrm>
            <a:off x="905256" y="3657600"/>
            <a:ext cx="310896" cy="310896"/>
          </a:xfrm>
          <a:prstGeom prst="ellipse">
            <a:avLst/>
          </a:prstGeom>
          <a:solidFill>
            <a:srgbClr val="C4453D"/>
          </a:solidFill>
          <a:ln/>
        </p:spPr>
        <p:txBody>
          <a:bodyPr/>
          <a:lstStyle/>
          <a:p>
            <a:endParaRPr lang="en-SE"/>
          </a:p>
        </p:txBody>
      </p:sp>
      <p:sp>
        <p:nvSpPr>
          <p:cNvPr id="12" name="Text 10"/>
          <p:cNvSpPr txBox="1"/>
          <p:nvPr/>
        </p:nvSpPr>
        <p:spPr>
          <a:xfrm>
            <a:off x="905256" y="365760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463040" y="3364992"/>
            <a:ext cx="10241280" cy="292608"/>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Obstacles were thinned at random</a:t>
            </a:r>
            <a:endParaRPr lang="en-US" sz="1450" dirty="0"/>
          </a:p>
        </p:txBody>
      </p:sp>
      <p:sp>
        <p:nvSpPr>
          <p:cNvPr id="14" name="Text 12"/>
          <p:cNvSpPr txBox="1"/>
          <p:nvPr/>
        </p:nvSpPr>
        <p:spPr>
          <a:xfrm>
            <a:off x="1463040" y="3694176"/>
            <a:ext cx="6675120" cy="713232"/>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96,962 voxels had to fit a 6,000-sphere budget. The surplus was dropped by random sampling, which punches holes straight through real surfaces.</a:t>
            </a:r>
            <a:endParaRPr lang="en-US" sz="1200" dirty="0"/>
          </a:p>
        </p:txBody>
      </p:sp>
      <p:sp>
        <p:nvSpPr>
          <p:cNvPr id="15" name="Text 13"/>
          <p:cNvSpPr txBox="1"/>
          <p:nvPr/>
        </p:nvSpPr>
        <p:spPr>
          <a:xfrm>
            <a:off x="8321040" y="3694176"/>
            <a:ext cx="3108960" cy="713232"/>
          </a:xfrm>
          <a:prstGeom prst="rect">
            <a:avLst/>
          </a:prstGeom>
          <a:noFill/>
          <a:ln/>
        </p:spPr>
        <p:txBody>
          <a:bodyPr wrap="square" lIns="0" tIns="0" rIns="0" bIns="0" rtlCol="0" anchor="ctr"/>
          <a:lstStyle/>
          <a:p>
            <a:pPr marL="0" indent="0">
              <a:buNone/>
            </a:pPr>
            <a:r>
              <a:rPr lang="en-US" sz="1150" i="1" dirty="0">
                <a:solidFill>
                  <a:srgbClr val="C4453D"/>
                </a:solidFill>
                <a:latin typeface="Calibri" pitchFamily="34" charset="0"/>
                <a:ea typeface="Calibri" pitchFamily="34" charset="-122"/>
                <a:cs typeface="Calibri" pitchFamily="34" charset="-120"/>
              </a:rPr>
              <a:t>A hole in a bin wall reads to the planner as free space.</a:t>
            </a:r>
            <a:endParaRPr lang="en-US" sz="1150" dirty="0"/>
          </a:p>
        </p:txBody>
      </p:sp>
      <p:sp>
        <p:nvSpPr>
          <p:cNvPr id="16" name="Shape 14"/>
          <p:cNvSpPr/>
          <p:nvPr/>
        </p:nvSpPr>
        <p:spPr>
          <a:xfrm>
            <a:off x="594360" y="4663440"/>
            <a:ext cx="11000232" cy="1298448"/>
          </a:xfrm>
          <a:prstGeom prst="roundRect">
            <a:avLst>
              <a:gd name="adj" fmla="val 4225"/>
            </a:avLst>
          </a:prstGeom>
          <a:solidFill>
            <a:srgbClr val="FFFFFF"/>
          </a:solidFill>
          <a:ln w="12700">
            <a:solidFill>
              <a:srgbClr val="E1E6EA"/>
            </a:solidFill>
            <a:prstDash val="solid"/>
          </a:ln>
        </p:spPr>
        <p:txBody>
          <a:bodyPr/>
          <a:lstStyle/>
          <a:p>
            <a:endParaRPr lang="en-SE"/>
          </a:p>
        </p:txBody>
      </p:sp>
      <p:sp>
        <p:nvSpPr>
          <p:cNvPr id="17" name="Shape 15"/>
          <p:cNvSpPr/>
          <p:nvPr/>
        </p:nvSpPr>
        <p:spPr>
          <a:xfrm>
            <a:off x="905256" y="5120640"/>
            <a:ext cx="310896" cy="310896"/>
          </a:xfrm>
          <a:prstGeom prst="ellipse">
            <a:avLst/>
          </a:prstGeom>
          <a:solidFill>
            <a:srgbClr val="C4453D"/>
          </a:solidFill>
          <a:ln/>
        </p:spPr>
        <p:txBody>
          <a:bodyPr/>
          <a:lstStyle/>
          <a:p>
            <a:endParaRPr lang="en-SE"/>
          </a:p>
        </p:txBody>
      </p:sp>
      <p:sp>
        <p:nvSpPr>
          <p:cNvPr id="18" name="Text 16"/>
          <p:cNvSpPr txBox="1"/>
          <p:nvPr/>
        </p:nvSpPr>
        <p:spPr>
          <a:xfrm>
            <a:off x="905256" y="512064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463040" y="4828032"/>
            <a:ext cx="10241280" cy="292608"/>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The self-filter under-covered the arm</a:t>
            </a:r>
            <a:endParaRPr lang="en-US" sz="1450" dirty="0"/>
          </a:p>
        </p:txBody>
      </p:sp>
      <p:sp>
        <p:nvSpPr>
          <p:cNvPr id="20" name="Text 18"/>
          <p:cNvSpPr txBox="1"/>
          <p:nvPr/>
        </p:nvSpPr>
        <p:spPr>
          <a:xfrm>
            <a:off x="1463040" y="5157216"/>
            <a:ext cx="6675120" cy="713232"/>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The robot was masked using a single fixed 18 cm sphere at each of twelve link origins — far smaller than links such as the forearm.</a:t>
            </a:r>
            <a:endParaRPr lang="en-US" sz="1200" dirty="0"/>
          </a:p>
        </p:txBody>
      </p:sp>
      <p:sp>
        <p:nvSpPr>
          <p:cNvPr id="21" name="Text 19"/>
          <p:cNvSpPr txBox="1"/>
          <p:nvPr/>
        </p:nvSpPr>
        <p:spPr>
          <a:xfrm>
            <a:off x="8321040" y="5157216"/>
            <a:ext cx="3108960" cy="713232"/>
          </a:xfrm>
          <a:prstGeom prst="rect">
            <a:avLst/>
          </a:prstGeom>
          <a:noFill/>
          <a:ln/>
        </p:spPr>
        <p:txBody>
          <a:bodyPr wrap="square" lIns="0" tIns="0" rIns="0" bIns="0" rtlCol="0" anchor="ctr"/>
          <a:lstStyle/>
          <a:p>
            <a:pPr marL="0" indent="0">
              <a:buNone/>
            </a:pPr>
            <a:r>
              <a:rPr lang="en-US" sz="1150" i="1" dirty="0">
                <a:solidFill>
                  <a:srgbClr val="C4453D"/>
                </a:solidFill>
                <a:latin typeface="Calibri" pitchFamily="34" charset="0"/>
                <a:ea typeface="Calibri" pitchFamily="34" charset="-122"/>
                <a:cs typeface="Calibri" pitchFamily="34" charset="-120"/>
              </a:rPr>
              <a:t>Unmasked robot surface survived as phantom obstacles.</a:t>
            </a:r>
            <a:endParaRPr lang="en-US" sz="1150" dirty="0"/>
          </a:p>
        </p:txBody>
      </p:sp>
      <p:sp>
        <p:nvSpPr>
          <p:cNvPr id="22" name="Text 20"/>
          <p:cNvSpPr txBox="1"/>
          <p:nvPr/>
        </p:nvSpPr>
        <p:spPr>
          <a:xfrm>
            <a:off x="594360" y="6144768"/>
            <a:ext cx="11000232" cy="365760"/>
          </a:xfrm>
          <a:prstGeom prst="rect">
            <a:avLst/>
          </a:prstGeom>
          <a:noFill/>
          <a:ln/>
        </p:spPr>
        <p:txBody>
          <a:bodyPr wrap="square" lIns="0" tIns="0" rIns="0" bIns="0" rtlCol="0" anchor="ctr"/>
          <a:lstStyle/>
          <a:p>
            <a:pPr marL="0" indent="0">
              <a:buNone/>
            </a:pPr>
            <a:r>
              <a:rPr lang="en-US" sz="1300" i="1" dirty="0">
                <a:solidFill>
                  <a:srgbClr val="8A949E"/>
                </a:solidFill>
                <a:latin typeface="Calibri" pitchFamily="34" charset="0"/>
                <a:ea typeface="Calibri" pitchFamily="34" charset="-122"/>
                <a:cs typeface="Calibri" pitchFamily="34" charset="-120"/>
              </a:rPr>
              <a:t>All three are properties of squeezing a sensed world into a fixed budget of primitives. None is a tuning problem.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232A31"/>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11000232" cy="256032"/>
          </a:xfrm>
          <a:prstGeom prst="rect">
            <a:avLst/>
          </a:prstGeom>
          <a:noFill/>
          <a:ln/>
        </p:spPr>
        <p:txBody>
          <a:bodyPr wrap="square" lIns="0" tIns="0" rIns="0" bIns="0" rtlCol="0" anchor="ctr"/>
          <a:lstStyle/>
          <a:p>
            <a:pPr marL="0" indent="0">
              <a:buNone/>
            </a:pPr>
            <a:r>
              <a:rPr lang="en-US" sz="1100" b="1" kern="0" spc="200" dirty="0">
                <a:solidFill>
                  <a:srgbClr val="F59B14"/>
                </a:solidFill>
                <a:latin typeface="Calibri" pitchFamily="34" charset="0"/>
                <a:ea typeface="Calibri" pitchFamily="34" charset="-122"/>
                <a:cs typeface="Calibri" pitchFamily="34" charset="-120"/>
              </a:rPr>
              <a:t>THE DECIDING EVIDENCE</a:t>
            </a:r>
            <a:endParaRPr lang="en-US" sz="1100" dirty="0"/>
          </a:p>
        </p:txBody>
      </p:sp>
      <p:sp>
        <p:nvSpPr>
          <p:cNvPr id="3" name="Text 1"/>
          <p:cNvSpPr txBox="1"/>
          <p:nvPr/>
        </p:nvSpPr>
        <p:spPr>
          <a:xfrm>
            <a:off x="594360" y="685800"/>
            <a:ext cx="11000232" cy="54864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cuMotion cannot represent a sensed world</a:t>
            </a:r>
            <a:endParaRPr lang="en-US" sz="3100" dirty="0"/>
          </a:p>
        </p:txBody>
      </p:sp>
      <p:sp>
        <p:nvSpPr>
          <p:cNvPr id="4" name="Text 2"/>
          <p:cNvSpPr txBox="1"/>
          <p:nvPr/>
        </p:nvSpPr>
        <p:spPr>
          <a:xfrm>
            <a:off x="594360" y="1298448"/>
            <a:ext cx="9601200" cy="320040"/>
          </a:xfrm>
          <a:prstGeom prst="rect">
            <a:avLst/>
          </a:prstGeom>
          <a:noFill/>
          <a:ln/>
        </p:spPr>
        <p:txBody>
          <a:bodyPr wrap="square" lIns="0" tIns="0" rIns="0" bIns="0" rtlCol="0" anchor="ctr"/>
          <a:lstStyle/>
          <a:p>
            <a:pPr marL="0" indent="0">
              <a:buNone/>
            </a:pPr>
            <a:r>
              <a:rPr lang="en-US" sz="1300" dirty="0">
                <a:solidFill>
                  <a:srgbClr val="AEB8C2"/>
                </a:solidFill>
                <a:latin typeface="Calibri" pitchFamily="34" charset="0"/>
                <a:ea typeface="Calibri" pitchFamily="34" charset="-122"/>
                <a:cs typeface="Calibri" pitchFamily="34" charset="-120"/>
              </a:rPr>
              <a:t>Measured directly against the live planning interface, not inferred from documentation.</a:t>
            </a:r>
            <a:endParaRPr lang="en-US" sz="1300" dirty="0"/>
          </a:p>
        </p:txBody>
      </p:sp>
      <p:sp>
        <p:nvSpPr>
          <p:cNvPr id="5" name="Shape 3"/>
          <p:cNvSpPr/>
          <p:nvPr/>
        </p:nvSpPr>
        <p:spPr>
          <a:xfrm>
            <a:off x="594360" y="1783080"/>
            <a:ext cx="5532120" cy="2148840"/>
          </a:xfrm>
          <a:prstGeom prst="roundRect">
            <a:avLst>
              <a:gd name="adj" fmla="val 2553"/>
            </a:avLst>
          </a:prstGeom>
          <a:solidFill>
            <a:srgbClr val="2E3740"/>
          </a:solidFill>
          <a:ln w="12700">
            <a:solidFill>
              <a:srgbClr val="2E3740"/>
            </a:solidFill>
            <a:prstDash val="solid"/>
          </a:ln>
        </p:spPr>
        <p:txBody>
          <a:bodyPr/>
          <a:lstStyle/>
          <a:p>
            <a:endParaRPr lang="en-SE"/>
          </a:p>
        </p:txBody>
      </p:sp>
      <p:sp>
        <p:nvSpPr>
          <p:cNvPr id="6" name="Text 4"/>
          <p:cNvSpPr txBox="1"/>
          <p:nvPr/>
        </p:nvSpPr>
        <p:spPr>
          <a:xfrm>
            <a:off x="868680" y="1975104"/>
            <a:ext cx="4937760" cy="237744"/>
          </a:xfrm>
          <a:prstGeom prst="rect">
            <a:avLst/>
          </a:prstGeom>
          <a:noFill/>
          <a:ln/>
        </p:spPr>
        <p:txBody>
          <a:bodyPr wrap="square" lIns="0" tIns="0" rIns="0" bIns="0" rtlCol="0" anchor="ctr"/>
          <a:lstStyle/>
          <a:p>
            <a:pPr marL="0" indent="0">
              <a:buNone/>
            </a:pPr>
            <a:r>
              <a:rPr lang="en-US" sz="1000" b="1" kern="0" spc="140" dirty="0">
                <a:solidFill>
                  <a:srgbClr val="2E8B7A"/>
                </a:solidFill>
                <a:latin typeface="Calibri" pitchFamily="34" charset="0"/>
                <a:ea typeface="Calibri" pitchFamily="34" charset="-122"/>
                <a:cs typeface="Calibri" pitchFamily="34" charset="-120"/>
              </a:rPr>
              <a:t>WHAT IT ACCEPTS</a:t>
            </a:r>
            <a:endParaRPr lang="en-US" sz="1000" dirty="0"/>
          </a:p>
        </p:txBody>
      </p:sp>
      <p:sp>
        <p:nvSpPr>
          <p:cNvPr id="7" name="Text 5"/>
          <p:cNvSpPr txBox="1"/>
          <p:nvPr/>
        </p:nvSpPr>
        <p:spPr>
          <a:xfrm>
            <a:off x="868680" y="2286000"/>
            <a:ext cx="4983480" cy="5486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Spheres, cubes, capsules, cones, cylinders, planes, oriented boxes and meshes</a:t>
            </a:r>
            <a:endParaRPr lang="en-US" sz="1250" dirty="0"/>
          </a:p>
        </p:txBody>
      </p:sp>
      <p:sp>
        <p:nvSpPr>
          <p:cNvPr id="8" name="Text 6"/>
          <p:cNvSpPr txBox="1"/>
          <p:nvPr/>
        </p:nvSpPr>
        <p:spPr>
          <a:xfrm>
            <a:off x="868680" y="2889504"/>
            <a:ext cx="4983480" cy="274320"/>
          </a:xfrm>
          <a:prstGeom prst="rect">
            <a:avLst/>
          </a:prstGeom>
          <a:noFill/>
          <a:ln/>
        </p:spPr>
        <p:txBody>
          <a:bodyPr wrap="square" lIns="0" tIns="0" rIns="0" bIns="0" rtlCol="0" anchor="ctr"/>
          <a:lstStyle/>
          <a:p>
            <a:pPr marL="0" indent="0">
              <a:buNone/>
            </a:pPr>
            <a:r>
              <a:rPr lang="en-US" sz="1150" i="1" dirty="0">
                <a:solidFill>
                  <a:srgbClr val="9AA4AE"/>
                </a:solidFill>
                <a:latin typeface="Calibri" pitchFamily="34" charset="0"/>
                <a:ea typeface="Calibri" pitchFamily="34" charset="-122"/>
                <a:cs typeface="Calibri" pitchFamily="34" charset="-120"/>
              </a:rPr>
              <a:t>Geometric primitives, placed one at a time.</a:t>
            </a:r>
            <a:endParaRPr lang="en-US" sz="1150" dirty="0"/>
          </a:p>
        </p:txBody>
      </p:sp>
      <p:sp>
        <p:nvSpPr>
          <p:cNvPr id="9" name="Text 7"/>
          <p:cNvSpPr txBox="1"/>
          <p:nvPr/>
        </p:nvSpPr>
        <p:spPr>
          <a:xfrm>
            <a:off x="868680" y="3291840"/>
            <a:ext cx="4983480" cy="320040"/>
          </a:xfrm>
          <a:prstGeom prst="rect">
            <a:avLst/>
          </a:prstGeom>
          <a:noFill/>
          <a:ln/>
        </p:spPr>
        <p:txBody>
          <a:bodyPr wrap="square" lIns="0" tIns="0" rIns="0" bIns="0" rtlCol="0" anchor="ctr"/>
          <a:lstStyle/>
          <a:p>
            <a:pPr marL="0" indent="0">
              <a:buNone/>
            </a:pPr>
            <a:r>
              <a:rPr lang="en-US" sz="1250" b="1" dirty="0">
                <a:solidFill>
                  <a:srgbClr val="F59B14"/>
                </a:solidFill>
                <a:latin typeface="Calibri" pitchFamily="34" charset="0"/>
                <a:ea typeface="Calibri" pitchFamily="34" charset="-122"/>
                <a:cs typeface="Calibri" pitchFamily="34" charset="-120"/>
              </a:rPr>
              <a:t>A depth image has no way in.</a:t>
            </a:r>
            <a:endParaRPr lang="en-US" sz="1250" dirty="0"/>
          </a:p>
        </p:txBody>
      </p:sp>
      <p:sp>
        <p:nvSpPr>
          <p:cNvPr id="10" name="Shape 8"/>
          <p:cNvSpPr/>
          <p:nvPr/>
        </p:nvSpPr>
        <p:spPr>
          <a:xfrm>
            <a:off x="6492240" y="1783080"/>
            <a:ext cx="5102352" cy="2148840"/>
          </a:xfrm>
          <a:prstGeom prst="roundRect">
            <a:avLst>
              <a:gd name="adj" fmla="val 2553"/>
            </a:avLst>
          </a:prstGeom>
          <a:solidFill>
            <a:srgbClr val="2E3740"/>
          </a:solidFill>
          <a:ln w="12700">
            <a:solidFill>
              <a:srgbClr val="2E3740"/>
            </a:solidFill>
            <a:prstDash val="solid"/>
          </a:ln>
        </p:spPr>
        <p:txBody>
          <a:bodyPr/>
          <a:lstStyle/>
          <a:p>
            <a:endParaRPr lang="en-SE"/>
          </a:p>
        </p:txBody>
      </p:sp>
      <p:sp>
        <p:nvSpPr>
          <p:cNvPr id="11" name="Text 9"/>
          <p:cNvSpPr txBox="1"/>
          <p:nvPr/>
        </p:nvSpPr>
        <p:spPr>
          <a:xfrm>
            <a:off x="6766560" y="1975104"/>
            <a:ext cx="4572000" cy="237744"/>
          </a:xfrm>
          <a:prstGeom prst="rect">
            <a:avLst/>
          </a:prstGeom>
          <a:noFill/>
          <a:ln/>
        </p:spPr>
        <p:txBody>
          <a:bodyPr wrap="square" lIns="0" tIns="0" rIns="0" bIns="0" rtlCol="0" anchor="ctr"/>
          <a:lstStyle/>
          <a:p>
            <a:pPr marL="0" indent="0">
              <a:buNone/>
            </a:pPr>
            <a:r>
              <a:rPr lang="en-US" sz="1000" b="1" kern="0" spc="140" dirty="0">
                <a:solidFill>
                  <a:srgbClr val="C4453D"/>
                </a:solidFill>
                <a:latin typeface="Calibri" pitchFamily="34" charset="0"/>
                <a:ea typeface="Calibri" pitchFamily="34" charset="-122"/>
                <a:cs typeface="Calibri" pitchFamily="34" charset="-120"/>
              </a:rPr>
              <a:t>WHAT IT HAS NO NOTION OF</a:t>
            </a:r>
            <a:endParaRPr lang="en-US" sz="1000" dirty="0"/>
          </a:p>
        </p:txBody>
      </p:sp>
      <p:sp>
        <p:nvSpPr>
          <p:cNvPr id="12" name="Text 10"/>
          <p:cNvSpPr txBox="1"/>
          <p:nvPr/>
        </p:nvSpPr>
        <p:spPr>
          <a:xfrm>
            <a:off x="6766560" y="2304288"/>
            <a:ext cx="4617720" cy="146304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Signed distance field</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Voxel or occupancy grid</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Depth-image ingestion</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Robot self-segmentation</a:t>
            </a:r>
            <a:endParaRPr lang="en-US" sz="1250" dirty="0"/>
          </a:p>
        </p:txBody>
      </p:sp>
      <p:sp>
        <p:nvSpPr>
          <p:cNvPr id="13" name="Text 11"/>
          <p:cNvSpPr txBox="1"/>
          <p:nvPr/>
        </p:nvSpPr>
        <p:spPr>
          <a:xfrm>
            <a:off x="594360" y="4133088"/>
            <a:ext cx="11000232"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Tested live on the running planner</a:t>
            </a:r>
            <a:endParaRPr lang="en-US" sz="1350" dirty="0"/>
          </a:p>
        </p:txBody>
      </p:sp>
      <p:sp>
        <p:nvSpPr>
          <p:cNvPr id="14" name="Shape 12"/>
          <p:cNvSpPr/>
          <p:nvPr/>
        </p:nvSpPr>
        <p:spPr>
          <a:xfrm>
            <a:off x="594360" y="4498848"/>
            <a:ext cx="2503170" cy="841248"/>
          </a:xfrm>
          <a:prstGeom prst="roundRect">
            <a:avLst>
              <a:gd name="adj" fmla="val 6522"/>
            </a:avLst>
          </a:prstGeom>
          <a:solidFill>
            <a:srgbClr val="2E3740"/>
          </a:solidFill>
          <a:ln w="12700">
            <a:solidFill>
              <a:srgbClr val="2E3740"/>
            </a:solidFill>
            <a:prstDash val="solid"/>
          </a:ln>
        </p:spPr>
        <p:txBody>
          <a:bodyPr/>
          <a:lstStyle/>
          <a:p>
            <a:endParaRPr lang="en-SE"/>
          </a:p>
        </p:txBody>
      </p:sp>
      <p:sp>
        <p:nvSpPr>
          <p:cNvPr id="15" name="Text 13"/>
          <p:cNvSpPr txBox="1"/>
          <p:nvPr/>
        </p:nvSpPr>
        <p:spPr>
          <a:xfrm>
            <a:off x="795528" y="4626864"/>
            <a:ext cx="2100834" cy="237744"/>
          </a:xfrm>
          <a:prstGeom prst="rect">
            <a:avLst/>
          </a:prstGeom>
          <a:noFill/>
          <a:ln/>
        </p:spPr>
        <p:txBody>
          <a:bodyPr wrap="square" lIns="0" tIns="0" rIns="0" bIns="0" rtlCol="0" anchor="ctr"/>
          <a:lstStyle/>
          <a:p>
            <a:pPr marL="0" indent="0">
              <a:buNone/>
            </a:pPr>
            <a:r>
              <a:rPr lang="en-US" sz="1100" dirty="0">
                <a:solidFill>
                  <a:srgbClr val="9AA4AE"/>
                </a:solidFill>
                <a:latin typeface="Calibri" pitchFamily="34" charset="0"/>
                <a:ea typeface="Calibri" pitchFamily="34" charset="-122"/>
                <a:cs typeface="Calibri" pitchFamily="34" charset="-120"/>
              </a:rPr>
              <a:t>Resize an obstacle</a:t>
            </a:r>
            <a:endParaRPr lang="en-US" sz="1100" dirty="0"/>
          </a:p>
        </p:txBody>
      </p:sp>
      <p:sp>
        <p:nvSpPr>
          <p:cNvPr id="16" name="Text 14"/>
          <p:cNvSpPr txBox="1"/>
          <p:nvPr/>
        </p:nvSpPr>
        <p:spPr>
          <a:xfrm>
            <a:off x="795528" y="4882896"/>
            <a:ext cx="2100834" cy="292608"/>
          </a:xfrm>
          <a:prstGeom prst="rect">
            <a:avLst/>
          </a:prstGeom>
          <a:noFill/>
          <a:ln/>
        </p:spPr>
        <p:txBody>
          <a:bodyPr wrap="square" lIns="0" tIns="0" rIns="0" bIns="0" rtlCol="0" anchor="ctr"/>
          <a:lstStyle/>
          <a:p>
            <a:pPr marL="0" indent="0">
              <a:buNone/>
            </a:pPr>
            <a:r>
              <a:rPr lang="en-US" sz="1350" b="1" dirty="0">
                <a:solidFill>
                  <a:srgbClr val="C4453D"/>
                </a:solidFill>
                <a:latin typeface="Calibri" pitchFamily="34" charset="0"/>
                <a:ea typeface="Calibri" pitchFamily="34" charset="-122"/>
                <a:cs typeface="Calibri" pitchFamily="34" charset="-120"/>
              </a:rPr>
              <a:t>not implemented</a:t>
            </a:r>
            <a:endParaRPr lang="en-US" sz="1350" dirty="0"/>
          </a:p>
        </p:txBody>
      </p:sp>
      <p:sp>
        <p:nvSpPr>
          <p:cNvPr id="17" name="Shape 15"/>
          <p:cNvSpPr/>
          <p:nvPr/>
        </p:nvSpPr>
        <p:spPr>
          <a:xfrm>
            <a:off x="3426714" y="4498848"/>
            <a:ext cx="2503170" cy="841248"/>
          </a:xfrm>
          <a:prstGeom prst="roundRect">
            <a:avLst>
              <a:gd name="adj" fmla="val 6522"/>
            </a:avLst>
          </a:prstGeom>
          <a:solidFill>
            <a:srgbClr val="2E3740"/>
          </a:solidFill>
          <a:ln w="12700">
            <a:solidFill>
              <a:srgbClr val="2E3740"/>
            </a:solidFill>
            <a:prstDash val="solid"/>
          </a:ln>
        </p:spPr>
        <p:txBody>
          <a:bodyPr/>
          <a:lstStyle/>
          <a:p>
            <a:endParaRPr lang="en-SE"/>
          </a:p>
        </p:txBody>
      </p:sp>
      <p:sp>
        <p:nvSpPr>
          <p:cNvPr id="18" name="Text 16"/>
          <p:cNvSpPr txBox="1"/>
          <p:nvPr/>
        </p:nvSpPr>
        <p:spPr>
          <a:xfrm>
            <a:off x="3627882" y="4626864"/>
            <a:ext cx="2100834" cy="237744"/>
          </a:xfrm>
          <a:prstGeom prst="rect">
            <a:avLst/>
          </a:prstGeom>
          <a:noFill/>
          <a:ln/>
        </p:spPr>
        <p:txBody>
          <a:bodyPr wrap="square" lIns="0" tIns="0" rIns="0" bIns="0" rtlCol="0" anchor="ctr"/>
          <a:lstStyle/>
          <a:p>
            <a:pPr marL="0" indent="0">
              <a:buNone/>
            </a:pPr>
            <a:r>
              <a:rPr lang="en-US" sz="1100" dirty="0">
                <a:solidFill>
                  <a:srgbClr val="9AA4AE"/>
                </a:solidFill>
                <a:latin typeface="Calibri" pitchFamily="34" charset="0"/>
                <a:ea typeface="Calibri" pitchFamily="34" charset="-122"/>
                <a:cs typeface="Calibri" pitchFamily="34" charset="-120"/>
              </a:rPr>
              <a:t>Move an obstacle</a:t>
            </a:r>
            <a:endParaRPr lang="en-US" sz="1100" dirty="0"/>
          </a:p>
        </p:txBody>
      </p:sp>
      <p:sp>
        <p:nvSpPr>
          <p:cNvPr id="19" name="Text 17"/>
          <p:cNvSpPr txBox="1"/>
          <p:nvPr/>
        </p:nvSpPr>
        <p:spPr>
          <a:xfrm>
            <a:off x="3627882" y="4882896"/>
            <a:ext cx="2100834" cy="292608"/>
          </a:xfrm>
          <a:prstGeom prst="rect">
            <a:avLst/>
          </a:prstGeom>
          <a:noFill/>
          <a:ln/>
        </p:spPr>
        <p:txBody>
          <a:bodyPr wrap="square" lIns="0" tIns="0" rIns="0" bIns="0" rtlCol="0" anchor="ctr"/>
          <a:lstStyle/>
          <a:p>
            <a:pPr marL="0" indent="0">
              <a:buNone/>
            </a:pPr>
            <a:r>
              <a:rPr lang="en-US" sz="1350" b="1" dirty="0">
                <a:solidFill>
                  <a:srgbClr val="2E8B7A"/>
                </a:solidFill>
                <a:latin typeface="Calibri" pitchFamily="34" charset="0"/>
                <a:ea typeface="Calibri" pitchFamily="34" charset="-122"/>
                <a:cs typeface="Calibri" pitchFamily="34" charset="-120"/>
              </a:rPr>
              <a:t>works</a:t>
            </a:r>
            <a:endParaRPr lang="en-US" sz="1350" dirty="0"/>
          </a:p>
        </p:txBody>
      </p:sp>
      <p:sp>
        <p:nvSpPr>
          <p:cNvPr id="20" name="Shape 18"/>
          <p:cNvSpPr/>
          <p:nvPr/>
        </p:nvSpPr>
        <p:spPr>
          <a:xfrm>
            <a:off x="6259068" y="4498848"/>
            <a:ext cx="2503170" cy="841248"/>
          </a:xfrm>
          <a:prstGeom prst="roundRect">
            <a:avLst>
              <a:gd name="adj" fmla="val 6522"/>
            </a:avLst>
          </a:prstGeom>
          <a:solidFill>
            <a:srgbClr val="2E3740"/>
          </a:solidFill>
          <a:ln w="12700">
            <a:solidFill>
              <a:srgbClr val="2E3740"/>
            </a:solidFill>
            <a:prstDash val="solid"/>
          </a:ln>
        </p:spPr>
        <p:txBody>
          <a:bodyPr/>
          <a:lstStyle/>
          <a:p>
            <a:endParaRPr lang="en-SE"/>
          </a:p>
        </p:txBody>
      </p:sp>
      <p:sp>
        <p:nvSpPr>
          <p:cNvPr id="21" name="Text 19"/>
          <p:cNvSpPr txBox="1"/>
          <p:nvPr/>
        </p:nvSpPr>
        <p:spPr>
          <a:xfrm>
            <a:off x="6460236" y="4626864"/>
            <a:ext cx="2100834" cy="237744"/>
          </a:xfrm>
          <a:prstGeom prst="rect">
            <a:avLst/>
          </a:prstGeom>
          <a:noFill/>
          <a:ln/>
        </p:spPr>
        <p:txBody>
          <a:bodyPr wrap="square" lIns="0" tIns="0" rIns="0" bIns="0" rtlCol="0" anchor="ctr"/>
          <a:lstStyle/>
          <a:p>
            <a:pPr marL="0" indent="0">
              <a:buNone/>
            </a:pPr>
            <a:r>
              <a:rPr lang="en-US" sz="1100" dirty="0">
                <a:solidFill>
                  <a:srgbClr val="9AA4AE"/>
                </a:solidFill>
                <a:latin typeface="Calibri" pitchFamily="34" charset="0"/>
                <a:ea typeface="Calibri" pitchFamily="34" charset="-122"/>
                <a:cs typeface="Calibri" pitchFamily="34" charset="-120"/>
              </a:rPr>
              <a:t>Enable or disable</a:t>
            </a:r>
            <a:endParaRPr lang="en-US" sz="1100" dirty="0"/>
          </a:p>
        </p:txBody>
      </p:sp>
      <p:sp>
        <p:nvSpPr>
          <p:cNvPr id="22" name="Text 20"/>
          <p:cNvSpPr txBox="1"/>
          <p:nvPr/>
        </p:nvSpPr>
        <p:spPr>
          <a:xfrm>
            <a:off x="6460236" y="4882896"/>
            <a:ext cx="2100834" cy="292608"/>
          </a:xfrm>
          <a:prstGeom prst="rect">
            <a:avLst/>
          </a:prstGeom>
          <a:noFill/>
          <a:ln/>
        </p:spPr>
        <p:txBody>
          <a:bodyPr wrap="square" lIns="0" tIns="0" rIns="0" bIns="0" rtlCol="0" anchor="ctr"/>
          <a:lstStyle/>
          <a:p>
            <a:pPr marL="0" indent="0">
              <a:buNone/>
            </a:pPr>
            <a:r>
              <a:rPr lang="en-US" sz="1350" b="1" dirty="0">
                <a:solidFill>
                  <a:srgbClr val="2E8B7A"/>
                </a:solidFill>
                <a:latin typeface="Calibri" pitchFamily="34" charset="0"/>
                <a:ea typeface="Calibri" pitchFamily="34" charset="-122"/>
                <a:cs typeface="Calibri" pitchFamily="34" charset="-120"/>
              </a:rPr>
              <a:t>works</a:t>
            </a:r>
            <a:endParaRPr lang="en-US" sz="1350" dirty="0"/>
          </a:p>
        </p:txBody>
      </p:sp>
      <p:sp>
        <p:nvSpPr>
          <p:cNvPr id="23" name="Shape 21"/>
          <p:cNvSpPr/>
          <p:nvPr/>
        </p:nvSpPr>
        <p:spPr>
          <a:xfrm>
            <a:off x="9091422" y="4498848"/>
            <a:ext cx="2503170" cy="841248"/>
          </a:xfrm>
          <a:prstGeom prst="roundRect">
            <a:avLst>
              <a:gd name="adj" fmla="val 6522"/>
            </a:avLst>
          </a:prstGeom>
          <a:solidFill>
            <a:srgbClr val="2E3740"/>
          </a:solidFill>
          <a:ln w="12700">
            <a:solidFill>
              <a:srgbClr val="2E3740"/>
            </a:solidFill>
            <a:prstDash val="solid"/>
          </a:ln>
        </p:spPr>
        <p:txBody>
          <a:bodyPr/>
          <a:lstStyle/>
          <a:p>
            <a:endParaRPr lang="en-SE"/>
          </a:p>
        </p:txBody>
      </p:sp>
      <p:sp>
        <p:nvSpPr>
          <p:cNvPr id="24" name="Text 22"/>
          <p:cNvSpPr txBox="1"/>
          <p:nvPr/>
        </p:nvSpPr>
        <p:spPr>
          <a:xfrm>
            <a:off x="9292590" y="4626864"/>
            <a:ext cx="2100834" cy="237744"/>
          </a:xfrm>
          <a:prstGeom prst="rect">
            <a:avLst/>
          </a:prstGeom>
          <a:noFill/>
          <a:ln/>
        </p:spPr>
        <p:txBody>
          <a:bodyPr wrap="square" lIns="0" tIns="0" rIns="0" bIns="0" rtlCol="0" anchor="ctr"/>
          <a:lstStyle/>
          <a:p>
            <a:pPr marL="0" indent="0">
              <a:buNone/>
            </a:pPr>
            <a:r>
              <a:rPr lang="en-US" sz="1100" dirty="0">
                <a:solidFill>
                  <a:srgbClr val="9AA4AE"/>
                </a:solidFill>
                <a:latin typeface="Calibri" pitchFamily="34" charset="0"/>
                <a:ea typeface="Calibri" pitchFamily="34" charset="-122"/>
                <a:cs typeface="Calibri" pitchFamily="34" charset="-120"/>
              </a:rPr>
              <a:t>Replace or delete</a:t>
            </a:r>
            <a:endParaRPr lang="en-US" sz="1100" dirty="0"/>
          </a:p>
        </p:txBody>
      </p:sp>
      <p:sp>
        <p:nvSpPr>
          <p:cNvPr id="25" name="Text 23"/>
          <p:cNvSpPr txBox="1"/>
          <p:nvPr/>
        </p:nvSpPr>
        <p:spPr>
          <a:xfrm>
            <a:off x="9292590" y="4882896"/>
            <a:ext cx="2100834" cy="292608"/>
          </a:xfrm>
          <a:prstGeom prst="rect">
            <a:avLst/>
          </a:prstGeom>
          <a:noFill/>
          <a:ln/>
        </p:spPr>
        <p:txBody>
          <a:bodyPr wrap="square" lIns="0" tIns="0" rIns="0" bIns="0" rtlCol="0" anchor="ctr"/>
          <a:lstStyle/>
          <a:p>
            <a:pPr marL="0" indent="0">
              <a:buNone/>
            </a:pPr>
            <a:r>
              <a:rPr lang="en-US" sz="1350" b="1" dirty="0">
                <a:solidFill>
                  <a:srgbClr val="C4453D"/>
                </a:solidFill>
                <a:latin typeface="Calibri" pitchFamily="34" charset="0"/>
                <a:ea typeface="Calibri" pitchFamily="34" charset="-122"/>
                <a:cs typeface="Calibri" pitchFamily="34" charset="-120"/>
              </a:rPr>
              <a:t>rejected</a:t>
            </a:r>
            <a:endParaRPr lang="en-US" sz="1350" dirty="0"/>
          </a:p>
        </p:txBody>
      </p:sp>
      <p:sp>
        <p:nvSpPr>
          <p:cNvPr id="26" name="Text 24"/>
          <p:cNvSpPr txBox="1"/>
          <p:nvPr/>
        </p:nvSpPr>
        <p:spPr>
          <a:xfrm>
            <a:off x="594360" y="5577840"/>
            <a:ext cx="10972800" cy="548640"/>
          </a:xfrm>
          <a:prstGeom prst="rect">
            <a:avLst/>
          </a:prstGeom>
          <a:noFill/>
          <a:ln/>
        </p:spPr>
        <p:txBody>
          <a:bodyPr wrap="square" lIns="0" tIns="0" rIns="0" bIns="0" rtlCol="0" anchor="ctr"/>
          <a:lstStyle/>
          <a:p>
            <a:pPr marL="0" indent="0">
              <a:buNone/>
            </a:pPr>
            <a:r>
              <a:rPr lang="en-US" sz="1300" i="1" dirty="0">
                <a:solidFill>
                  <a:srgbClr val="F59B14"/>
                </a:solidFill>
                <a:latin typeface="Calibri" pitchFamily="34" charset="0"/>
                <a:ea typeface="Calibri" pitchFamily="34" charset="-122"/>
                <a:cs typeface="Calibri" pitchFamily="34" charset="-120"/>
              </a:rPr>
              <a:t>Obstacles can be created once, then only moved or switched off. A scene that changes shape cannot be expressed — which is precisely what a depth sensor delivers.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16D71E1-C0A3-F927-3A5A-E435EAEDD40E}"/>
              </a:ext>
            </a:extLst>
          </p:cNvPr>
          <p:cNvPicPr>
            <a:picLocks noChangeAspect="1"/>
          </p:cNvPicPr>
          <p:nvPr/>
        </p:nvPicPr>
        <p:blipFill>
          <a:blip r:embed="rId2"/>
          <a:srcRect t="10017"/>
          <a:stretch>
            <a:fillRect/>
          </a:stretch>
        </p:blipFill>
        <p:spPr>
          <a:xfrm>
            <a:off x="20" y="1282"/>
            <a:ext cx="12191980" cy="6856718"/>
          </a:xfrm>
          <a:prstGeom prst="rect">
            <a:avLst/>
          </a:prstGeom>
        </p:spPr>
      </p:pic>
    </p:spTree>
    <p:extLst>
      <p:ext uri="{BB962C8B-B14F-4D97-AF65-F5344CB8AC3E}">
        <p14:creationId xmlns:p14="http://schemas.microsoft.com/office/powerpoint/2010/main" val="257317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THE REPLACEMENT</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What cuRobo and nvblox provide instead</a:t>
            </a:r>
            <a:endParaRPr lang="en-US" sz="3200" dirty="0"/>
          </a:p>
        </p:txBody>
      </p:sp>
      <p:sp>
        <p:nvSpPr>
          <p:cNvPr id="4" name="Shape 2"/>
          <p:cNvSpPr/>
          <p:nvPr/>
        </p:nvSpPr>
        <p:spPr>
          <a:xfrm>
            <a:off x="594360" y="1737360"/>
            <a:ext cx="7863840" cy="1298448"/>
          </a:xfrm>
          <a:prstGeom prst="roundRect">
            <a:avLst>
              <a:gd name="adj" fmla="val 4225"/>
            </a:avLst>
          </a:prstGeom>
          <a:solidFill>
            <a:srgbClr val="FFFFFF"/>
          </a:solidFill>
          <a:ln w="12700">
            <a:solidFill>
              <a:srgbClr val="E1E6EA"/>
            </a:solidFill>
            <a:prstDash val="solid"/>
          </a:ln>
        </p:spPr>
        <p:txBody>
          <a:bodyPr/>
          <a:lstStyle/>
          <a:p>
            <a:endParaRPr lang="en-SE"/>
          </a:p>
        </p:txBody>
      </p:sp>
      <p:sp>
        <p:nvSpPr>
          <p:cNvPr id="5" name="Shape 3"/>
          <p:cNvSpPr/>
          <p:nvPr/>
        </p:nvSpPr>
        <p:spPr>
          <a:xfrm>
            <a:off x="905256" y="2194560"/>
            <a:ext cx="310896" cy="310896"/>
          </a:xfrm>
          <a:prstGeom prst="ellipse">
            <a:avLst/>
          </a:prstGeom>
          <a:solidFill>
            <a:srgbClr val="F59B14"/>
          </a:solidFill>
          <a:ln/>
        </p:spPr>
        <p:txBody>
          <a:bodyPr/>
          <a:lstStyle/>
          <a:p>
            <a:endParaRPr lang="en-SE"/>
          </a:p>
        </p:txBody>
      </p:sp>
      <p:sp>
        <p:nvSpPr>
          <p:cNvPr id="6" name="Text 4"/>
          <p:cNvSpPr txBox="1"/>
          <p:nvPr/>
        </p:nvSpPr>
        <p:spPr>
          <a:xfrm>
            <a:off x="905256" y="21945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463040" y="1901952"/>
            <a:ext cx="6766560" cy="2743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Robot self-segmentation</a:t>
            </a:r>
            <a:endParaRPr lang="en-US" sz="1450" dirty="0"/>
          </a:p>
        </p:txBody>
      </p:sp>
      <p:sp>
        <p:nvSpPr>
          <p:cNvPr id="8" name="Text 6"/>
          <p:cNvSpPr txBox="1"/>
          <p:nvPr/>
        </p:nvSpPr>
        <p:spPr>
          <a:xfrm>
            <a:off x="1463040" y="2212848"/>
            <a:ext cx="6766560" cy="530352"/>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The robot's own pixels are erased from every depth image using its live joint angles, before they can become obstacles.</a:t>
            </a:r>
            <a:endParaRPr lang="en-US" sz="1200" dirty="0"/>
          </a:p>
        </p:txBody>
      </p:sp>
      <p:sp>
        <p:nvSpPr>
          <p:cNvPr id="9" name="Text 7"/>
          <p:cNvSpPr txBox="1"/>
          <p:nvPr/>
        </p:nvSpPr>
        <p:spPr>
          <a:xfrm>
            <a:off x="1463040" y="2724912"/>
            <a:ext cx="6766560" cy="256032"/>
          </a:xfrm>
          <a:prstGeom prst="rect">
            <a:avLst/>
          </a:prstGeom>
          <a:noFill/>
          <a:ln/>
        </p:spPr>
        <p:txBody>
          <a:bodyPr wrap="square" lIns="0" tIns="0" rIns="0" bIns="0" rtlCol="0" anchor="ctr"/>
          <a:lstStyle/>
          <a:p>
            <a:pPr marL="0" indent="0">
              <a:buNone/>
            </a:pPr>
            <a:r>
              <a:rPr lang="en-US" sz="1150" b="1" i="1" dirty="0">
                <a:solidFill>
                  <a:srgbClr val="F59B14"/>
                </a:solidFill>
                <a:latin typeface="Calibri" pitchFamily="34" charset="0"/>
                <a:ea typeface="Calibri" pitchFamily="34" charset="-122"/>
                <a:cs typeface="Calibri" pitchFamily="34" charset="-120"/>
              </a:rPr>
              <a:t>Solves the blocking failure directly.</a:t>
            </a:r>
            <a:endParaRPr lang="en-US" sz="1150" dirty="0"/>
          </a:p>
        </p:txBody>
      </p:sp>
      <p:sp>
        <p:nvSpPr>
          <p:cNvPr id="10" name="Shape 8"/>
          <p:cNvSpPr/>
          <p:nvPr/>
        </p:nvSpPr>
        <p:spPr>
          <a:xfrm>
            <a:off x="594360" y="3200400"/>
            <a:ext cx="7863840" cy="1298448"/>
          </a:xfrm>
          <a:prstGeom prst="roundRect">
            <a:avLst>
              <a:gd name="adj" fmla="val 4225"/>
            </a:avLst>
          </a:prstGeom>
          <a:solidFill>
            <a:srgbClr val="FFFFFF"/>
          </a:solidFill>
          <a:ln w="12700">
            <a:solidFill>
              <a:srgbClr val="E1E6EA"/>
            </a:solidFill>
            <a:prstDash val="solid"/>
          </a:ln>
        </p:spPr>
        <p:txBody>
          <a:bodyPr/>
          <a:lstStyle/>
          <a:p>
            <a:endParaRPr lang="en-SE"/>
          </a:p>
        </p:txBody>
      </p:sp>
      <p:sp>
        <p:nvSpPr>
          <p:cNvPr id="11" name="Shape 9"/>
          <p:cNvSpPr/>
          <p:nvPr/>
        </p:nvSpPr>
        <p:spPr>
          <a:xfrm>
            <a:off x="905256" y="3657600"/>
            <a:ext cx="310896" cy="310896"/>
          </a:xfrm>
          <a:prstGeom prst="ellipse">
            <a:avLst/>
          </a:prstGeom>
          <a:solidFill>
            <a:srgbClr val="2E8B7A"/>
          </a:solidFill>
          <a:ln/>
        </p:spPr>
        <p:txBody>
          <a:bodyPr/>
          <a:lstStyle/>
          <a:p>
            <a:endParaRPr lang="en-SE"/>
          </a:p>
        </p:txBody>
      </p:sp>
      <p:sp>
        <p:nvSpPr>
          <p:cNvPr id="12" name="Text 10"/>
          <p:cNvSpPr txBox="1"/>
          <p:nvPr/>
        </p:nvSpPr>
        <p:spPr>
          <a:xfrm>
            <a:off x="905256" y="365760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463040" y="3364992"/>
            <a:ext cx="6766560" cy="2743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nvblox distance field</a:t>
            </a:r>
            <a:endParaRPr lang="en-US" sz="1450" dirty="0"/>
          </a:p>
        </p:txBody>
      </p:sp>
      <p:sp>
        <p:nvSpPr>
          <p:cNvPr id="14" name="Text 12"/>
          <p:cNvSpPr txBox="1"/>
          <p:nvPr/>
        </p:nvSpPr>
        <p:spPr>
          <a:xfrm>
            <a:off x="1463040" y="3675888"/>
            <a:ext cx="6766560" cy="530352"/>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Depth images fuse into a signed distance field with temporal decay, at 5 mm resolution, across all six cameras.</a:t>
            </a:r>
            <a:endParaRPr lang="en-US" sz="1200" dirty="0"/>
          </a:p>
        </p:txBody>
      </p:sp>
      <p:sp>
        <p:nvSpPr>
          <p:cNvPr id="15" name="Text 13"/>
          <p:cNvSpPr txBox="1"/>
          <p:nvPr/>
        </p:nvSpPr>
        <p:spPr>
          <a:xfrm>
            <a:off x="1463040" y="4187952"/>
            <a:ext cx="6766560" cy="256032"/>
          </a:xfrm>
          <a:prstGeom prst="rect">
            <a:avLst/>
          </a:prstGeom>
          <a:noFill/>
          <a:ln/>
        </p:spPr>
        <p:txBody>
          <a:bodyPr wrap="square" lIns="0" tIns="0" rIns="0" bIns="0" rtlCol="0" anchor="ctr"/>
          <a:lstStyle/>
          <a:p>
            <a:pPr marL="0" indent="0">
              <a:buNone/>
            </a:pPr>
            <a:r>
              <a:rPr lang="en-US" sz="1150" b="1" i="1" dirty="0">
                <a:solidFill>
                  <a:srgbClr val="2E8B7A"/>
                </a:solidFill>
                <a:latin typeface="Calibri" pitchFamily="34" charset="0"/>
                <a:ea typeface="Calibri" pitchFamily="34" charset="-122"/>
                <a:cs typeface="Calibri" pitchFamily="34" charset="-120"/>
              </a:rPr>
              <a:t>Continuous distance and gradient, not a binary in-or-out test.</a:t>
            </a:r>
            <a:endParaRPr lang="en-US" sz="1150" dirty="0"/>
          </a:p>
        </p:txBody>
      </p:sp>
      <p:sp>
        <p:nvSpPr>
          <p:cNvPr id="16" name="Shape 14"/>
          <p:cNvSpPr/>
          <p:nvPr/>
        </p:nvSpPr>
        <p:spPr>
          <a:xfrm>
            <a:off x="594360" y="4663440"/>
            <a:ext cx="7863840" cy="1298448"/>
          </a:xfrm>
          <a:prstGeom prst="roundRect">
            <a:avLst>
              <a:gd name="adj" fmla="val 4225"/>
            </a:avLst>
          </a:prstGeom>
          <a:solidFill>
            <a:srgbClr val="FFFFFF"/>
          </a:solidFill>
          <a:ln w="12700">
            <a:solidFill>
              <a:srgbClr val="E1E6EA"/>
            </a:solidFill>
            <a:prstDash val="solid"/>
          </a:ln>
        </p:spPr>
        <p:txBody>
          <a:bodyPr/>
          <a:lstStyle/>
          <a:p>
            <a:endParaRPr lang="en-SE"/>
          </a:p>
        </p:txBody>
      </p:sp>
      <p:sp>
        <p:nvSpPr>
          <p:cNvPr id="17" name="Shape 15"/>
          <p:cNvSpPr/>
          <p:nvPr/>
        </p:nvSpPr>
        <p:spPr>
          <a:xfrm>
            <a:off x="905256" y="5120640"/>
            <a:ext cx="310896" cy="310896"/>
          </a:xfrm>
          <a:prstGeom prst="ellipse">
            <a:avLst/>
          </a:prstGeom>
          <a:solidFill>
            <a:srgbClr val="5B7EA6"/>
          </a:solidFill>
          <a:ln/>
        </p:spPr>
        <p:txBody>
          <a:bodyPr/>
          <a:lstStyle/>
          <a:p>
            <a:endParaRPr lang="en-SE"/>
          </a:p>
        </p:txBody>
      </p:sp>
      <p:sp>
        <p:nvSpPr>
          <p:cNvPr id="18" name="Text 16"/>
          <p:cNvSpPr txBox="1"/>
          <p:nvPr/>
        </p:nvSpPr>
        <p:spPr>
          <a:xfrm>
            <a:off x="905256" y="512064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463040" y="4828032"/>
            <a:ext cx="6766560" cy="274320"/>
          </a:xfrm>
          <a:prstGeom prst="rect">
            <a:avLst/>
          </a:prstGeom>
          <a:noFill/>
          <a:ln/>
        </p:spPr>
        <p:txBody>
          <a:bodyPr wrap="square" lIns="0" tIns="0" rIns="0" bIns="0" rtlCol="0" anchor="ctr"/>
          <a:lstStyle/>
          <a:p>
            <a:pPr marL="0" indent="0">
              <a:buNone/>
            </a:pPr>
            <a:r>
              <a:rPr lang="en-US" sz="1450" b="1" dirty="0">
                <a:solidFill>
                  <a:srgbClr val="232A31"/>
                </a:solidFill>
                <a:latin typeface="Calibri" pitchFamily="34" charset="0"/>
                <a:ea typeface="Calibri" pitchFamily="34" charset="-122"/>
                <a:cs typeface="Calibri" pitchFamily="34" charset="-120"/>
              </a:rPr>
              <a:t>GPU motion planning</a:t>
            </a:r>
            <a:endParaRPr lang="en-US" sz="1450" dirty="0"/>
          </a:p>
        </p:txBody>
      </p:sp>
      <p:sp>
        <p:nvSpPr>
          <p:cNvPr id="20" name="Text 18"/>
          <p:cNvSpPr txBox="1"/>
          <p:nvPr/>
        </p:nvSpPr>
        <p:spPr>
          <a:xfrm>
            <a:off x="1463040" y="5138928"/>
            <a:ext cx="6766560" cy="530352"/>
          </a:xfrm>
          <a:prstGeom prst="rect">
            <a:avLst/>
          </a:prstGeom>
          <a:noFill/>
          <a:ln/>
        </p:spPr>
        <p:txBody>
          <a:bodyPr wrap="square" lIns="0" tIns="0" rIns="0" bIns="0" rtlCol="0" anchor="ctr"/>
          <a:lstStyle/>
          <a:p>
            <a:pPr marL="0" indent="0">
              <a:buNone/>
            </a:pPr>
            <a:r>
              <a:rPr lang="en-US" sz="1200" dirty="0">
                <a:solidFill>
                  <a:srgbClr val="3A434C"/>
                </a:solidFill>
                <a:latin typeface="Calibri" pitchFamily="34" charset="0"/>
                <a:ea typeface="Calibri" pitchFamily="34" charset="-122"/>
                <a:cs typeface="Calibri" pitchFamily="34" charset="-120"/>
              </a:rPr>
              <a:t>Pose and joint-space planning against that field, including handling of a grasped part's volume.</a:t>
            </a:r>
            <a:endParaRPr lang="en-US" sz="1200" dirty="0"/>
          </a:p>
        </p:txBody>
      </p:sp>
      <p:sp>
        <p:nvSpPr>
          <p:cNvPr id="21" name="Text 19"/>
          <p:cNvSpPr txBox="1"/>
          <p:nvPr/>
        </p:nvSpPr>
        <p:spPr>
          <a:xfrm>
            <a:off x="1463040" y="5650992"/>
            <a:ext cx="6766560" cy="256032"/>
          </a:xfrm>
          <a:prstGeom prst="rect">
            <a:avLst/>
          </a:prstGeom>
          <a:noFill/>
          <a:ln/>
        </p:spPr>
        <p:txBody>
          <a:bodyPr wrap="square" lIns="0" tIns="0" rIns="0" bIns="0" rtlCol="0" anchor="ctr"/>
          <a:lstStyle/>
          <a:p>
            <a:pPr marL="0" indent="0">
              <a:buNone/>
            </a:pPr>
            <a:r>
              <a:rPr lang="en-US" sz="1150" b="1" i="1" dirty="0">
                <a:solidFill>
                  <a:srgbClr val="5B7EA6"/>
                </a:solidFill>
                <a:latin typeface="Calibri" pitchFamily="34" charset="0"/>
                <a:ea typeface="Calibri" pitchFamily="34" charset="-122"/>
                <a:cs typeface="Calibri" pitchFamily="34" charset="-120"/>
              </a:rPr>
              <a:t>The optimiser can descend a gradient out of collision.</a:t>
            </a:r>
            <a:endParaRPr lang="en-US" sz="1150" dirty="0"/>
          </a:p>
        </p:txBody>
      </p:sp>
      <p:sp>
        <p:nvSpPr>
          <p:cNvPr id="22" name="Shape 20"/>
          <p:cNvSpPr/>
          <p:nvPr/>
        </p:nvSpPr>
        <p:spPr>
          <a:xfrm>
            <a:off x="8732520" y="1737360"/>
            <a:ext cx="2862072" cy="3968496"/>
          </a:xfrm>
          <a:prstGeom prst="roundRect">
            <a:avLst>
              <a:gd name="adj" fmla="val 1917"/>
            </a:avLst>
          </a:prstGeom>
          <a:solidFill>
            <a:srgbClr val="232A31"/>
          </a:solidFill>
          <a:ln w="12700">
            <a:solidFill>
              <a:srgbClr val="232A31"/>
            </a:solidFill>
            <a:prstDash val="solid"/>
          </a:ln>
        </p:spPr>
        <p:txBody>
          <a:bodyPr/>
          <a:lstStyle/>
          <a:p>
            <a:endParaRPr lang="en-SE"/>
          </a:p>
        </p:txBody>
      </p:sp>
      <p:sp>
        <p:nvSpPr>
          <p:cNvPr id="23" name="Text 21"/>
          <p:cNvSpPr txBox="1"/>
          <p:nvPr/>
        </p:nvSpPr>
        <p:spPr>
          <a:xfrm>
            <a:off x="9006840" y="1956816"/>
            <a:ext cx="2286000" cy="237744"/>
          </a:xfrm>
          <a:prstGeom prst="rect">
            <a:avLst/>
          </a:prstGeom>
          <a:noFill/>
          <a:ln/>
        </p:spPr>
        <p:txBody>
          <a:bodyPr wrap="square" lIns="0" tIns="0" rIns="0" bIns="0" rtlCol="0" anchor="ctr"/>
          <a:lstStyle/>
          <a:p>
            <a:pPr marL="0" indent="0">
              <a:buNone/>
            </a:pPr>
            <a:r>
              <a:rPr lang="en-US" sz="1000" b="1" kern="0" spc="140" dirty="0">
                <a:solidFill>
                  <a:srgbClr val="F59B14"/>
                </a:solidFill>
                <a:latin typeface="Calibri" pitchFamily="34" charset="0"/>
                <a:ea typeface="Calibri" pitchFamily="34" charset="-122"/>
                <a:cs typeface="Calibri" pitchFamily="34" charset="-120"/>
              </a:rPr>
              <a:t>ALREADY VERIFIED</a:t>
            </a:r>
            <a:endParaRPr lang="en-US" sz="1000" dirty="0"/>
          </a:p>
        </p:txBody>
      </p:sp>
      <p:sp>
        <p:nvSpPr>
          <p:cNvPr id="24" name="Shape 22"/>
          <p:cNvSpPr/>
          <p:nvPr/>
        </p:nvSpPr>
        <p:spPr>
          <a:xfrm>
            <a:off x="9006840" y="2340864"/>
            <a:ext cx="237744" cy="237744"/>
          </a:xfrm>
          <a:prstGeom prst="ellipse">
            <a:avLst/>
          </a:prstGeom>
          <a:solidFill>
            <a:srgbClr val="2E8B7A"/>
          </a:solidFill>
          <a:ln/>
        </p:spPr>
        <p:txBody>
          <a:bodyPr/>
          <a:lstStyle/>
          <a:p>
            <a:endParaRPr lang="en-SE"/>
          </a:p>
        </p:txBody>
      </p:sp>
      <p:sp>
        <p:nvSpPr>
          <p:cNvPr id="25" name="Text 23"/>
          <p:cNvSpPr txBox="1"/>
          <p:nvPr/>
        </p:nvSpPr>
        <p:spPr>
          <a:xfrm>
            <a:off x="9006840" y="2340864"/>
            <a:ext cx="237744" cy="23774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p:cNvSpPr txBox="1"/>
          <p:nvPr/>
        </p:nvSpPr>
        <p:spPr>
          <a:xfrm>
            <a:off x="9326880" y="2322576"/>
            <a:ext cx="20116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Container</a:t>
            </a:r>
            <a:endParaRPr lang="en-US" sz="1200" dirty="0"/>
          </a:p>
        </p:txBody>
      </p:sp>
      <p:sp>
        <p:nvSpPr>
          <p:cNvPr id="27" name="Text 25"/>
          <p:cNvSpPr txBox="1"/>
          <p:nvPr/>
        </p:nvSpPr>
        <p:spPr>
          <a:xfrm>
            <a:off x="9006840" y="2615184"/>
            <a:ext cx="2331720" cy="777240"/>
          </a:xfrm>
          <a:prstGeom prst="rect">
            <a:avLst/>
          </a:prstGeom>
          <a:noFill/>
          <a:ln/>
        </p:spPr>
        <p:txBody>
          <a:bodyPr wrap="square" lIns="0" tIns="0" rIns="0" bIns="0" rtlCol="0" anchor="ctr"/>
          <a:lstStyle/>
          <a:p>
            <a:pPr marL="0" indent="0">
              <a:buNone/>
            </a:pPr>
            <a:r>
              <a:rPr lang="en-US" sz="1100" dirty="0">
                <a:solidFill>
                  <a:srgbClr val="AEB8C2"/>
                </a:solidFill>
                <a:latin typeface="Calibri" pitchFamily="34" charset="0"/>
                <a:ea typeface="Calibri" pitchFamily="34" charset="-122"/>
                <a:cs typeface="Calibri" pitchFamily="34" charset="-120"/>
              </a:rPr>
              <a:t>nvblox, cuRobo and PyTorch built on the Isaac Sim 6.0.1 base image</a:t>
            </a:r>
            <a:endParaRPr lang="en-US" sz="1100" dirty="0"/>
          </a:p>
        </p:txBody>
      </p:sp>
      <p:sp>
        <p:nvSpPr>
          <p:cNvPr id="28" name="Shape 26"/>
          <p:cNvSpPr/>
          <p:nvPr/>
        </p:nvSpPr>
        <p:spPr>
          <a:xfrm>
            <a:off x="9006840" y="3493008"/>
            <a:ext cx="237744" cy="237744"/>
          </a:xfrm>
          <a:prstGeom prst="ellipse">
            <a:avLst/>
          </a:prstGeom>
          <a:solidFill>
            <a:srgbClr val="2E8B7A"/>
          </a:solidFill>
          <a:ln/>
        </p:spPr>
        <p:txBody>
          <a:bodyPr/>
          <a:lstStyle/>
          <a:p>
            <a:endParaRPr lang="en-SE"/>
          </a:p>
        </p:txBody>
      </p:sp>
      <p:sp>
        <p:nvSpPr>
          <p:cNvPr id="29" name="Text 27"/>
          <p:cNvSpPr txBox="1"/>
          <p:nvPr/>
        </p:nvSpPr>
        <p:spPr>
          <a:xfrm>
            <a:off x="9006840" y="3493008"/>
            <a:ext cx="237744" cy="23774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0" name="Text 28"/>
          <p:cNvSpPr txBox="1"/>
          <p:nvPr/>
        </p:nvSpPr>
        <p:spPr>
          <a:xfrm>
            <a:off x="9326880" y="3474720"/>
            <a:ext cx="20116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Robot model</a:t>
            </a:r>
            <a:endParaRPr lang="en-US" sz="1200" dirty="0"/>
          </a:p>
        </p:txBody>
      </p:sp>
      <p:sp>
        <p:nvSpPr>
          <p:cNvPr id="31" name="Text 29"/>
          <p:cNvSpPr txBox="1"/>
          <p:nvPr/>
        </p:nvSpPr>
        <p:spPr>
          <a:xfrm>
            <a:off x="9006840" y="3767328"/>
            <a:ext cx="2331720" cy="777240"/>
          </a:xfrm>
          <a:prstGeom prst="rect">
            <a:avLst/>
          </a:prstGeom>
          <a:noFill/>
          <a:ln/>
        </p:spPr>
        <p:txBody>
          <a:bodyPr wrap="square" lIns="0" tIns="0" rIns="0" bIns="0" rtlCol="0" anchor="ctr"/>
          <a:lstStyle/>
          <a:p>
            <a:pPr marL="0" indent="0">
              <a:buNone/>
            </a:pPr>
            <a:r>
              <a:rPr lang="en-US" sz="1100" dirty="0">
                <a:solidFill>
                  <a:srgbClr val="AEB8C2"/>
                </a:solidFill>
                <a:latin typeface="Calibri" pitchFamily="34" charset="0"/>
                <a:ea typeface="Calibri" pitchFamily="34" charset="-122"/>
                <a:cs typeface="Calibri" pitchFamily="34" charset="-120"/>
              </a:rPr>
              <a:t>Loads with all seven planned joints in the correct order</a:t>
            </a:r>
            <a:endParaRPr lang="en-US" sz="1100" dirty="0"/>
          </a:p>
        </p:txBody>
      </p:sp>
      <p:sp>
        <p:nvSpPr>
          <p:cNvPr id="32" name="Shape 30"/>
          <p:cNvSpPr/>
          <p:nvPr/>
        </p:nvSpPr>
        <p:spPr>
          <a:xfrm>
            <a:off x="9006840" y="4645152"/>
            <a:ext cx="237744" cy="237744"/>
          </a:xfrm>
          <a:prstGeom prst="ellipse">
            <a:avLst/>
          </a:prstGeom>
          <a:solidFill>
            <a:srgbClr val="2E8B7A"/>
          </a:solidFill>
          <a:ln/>
        </p:spPr>
        <p:txBody>
          <a:bodyPr/>
          <a:lstStyle/>
          <a:p>
            <a:endParaRPr lang="en-SE"/>
          </a:p>
        </p:txBody>
      </p:sp>
      <p:sp>
        <p:nvSpPr>
          <p:cNvPr id="33" name="Text 31"/>
          <p:cNvSpPr txBox="1"/>
          <p:nvPr/>
        </p:nvSpPr>
        <p:spPr>
          <a:xfrm>
            <a:off x="9006840" y="4645152"/>
            <a:ext cx="237744" cy="23774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4" name="Text 32"/>
          <p:cNvSpPr txBox="1"/>
          <p:nvPr/>
        </p:nvSpPr>
        <p:spPr>
          <a:xfrm>
            <a:off x="9326880" y="4626864"/>
            <a:ext cx="20116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Collision model</a:t>
            </a:r>
            <a:endParaRPr lang="en-US" sz="1200" dirty="0"/>
          </a:p>
        </p:txBody>
      </p:sp>
      <p:sp>
        <p:nvSpPr>
          <p:cNvPr id="35" name="Text 33"/>
          <p:cNvSpPr txBox="1"/>
          <p:nvPr/>
        </p:nvSpPr>
        <p:spPr>
          <a:xfrm>
            <a:off x="9006840" y="4919472"/>
            <a:ext cx="2331720" cy="777240"/>
          </a:xfrm>
          <a:prstGeom prst="rect">
            <a:avLst/>
          </a:prstGeom>
          <a:noFill/>
          <a:ln/>
        </p:spPr>
        <p:txBody>
          <a:bodyPr wrap="square" lIns="0" tIns="0" rIns="0" bIns="0" rtlCol="0" anchor="ctr"/>
          <a:lstStyle/>
          <a:p>
            <a:pPr marL="0" indent="0">
              <a:buNone/>
            </a:pPr>
            <a:r>
              <a:rPr lang="en-US" sz="1100" dirty="0">
                <a:solidFill>
                  <a:srgbClr val="AEB8C2"/>
                </a:solidFill>
                <a:latin typeface="Calibri" pitchFamily="34" charset="0"/>
                <a:ea typeface="Calibri" pitchFamily="34" charset="-122"/>
                <a:cs typeface="Calibri" pitchFamily="34" charset="-120"/>
              </a:rPr>
              <a:t>42 of 42 spheres bound to real robot links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543D0B-4A66-48B5-361D-9F98DBFC394B}"/>
              </a:ext>
            </a:extLst>
          </p:cNvPr>
          <p:cNvPicPr>
            <a:picLocks noChangeAspect="1"/>
          </p:cNvPicPr>
          <p:nvPr/>
        </p:nvPicPr>
        <p:blipFill>
          <a:blip r:embed="rId2"/>
          <a:stretch>
            <a:fillRect/>
          </a:stretch>
        </p:blipFill>
        <p:spPr>
          <a:xfrm>
            <a:off x="643467" y="879940"/>
            <a:ext cx="10905066" cy="5098119"/>
          </a:xfrm>
          <a:prstGeom prst="rect">
            <a:avLst/>
          </a:prstGeom>
        </p:spPr>
      </p:pic>
      <p:sp>
        <p:nvSpPr>
          <p:cNvPr id="4" name="TextBox 3">
            <a:extLst>
              <a:ext uri="{FF2B5EF4-FFF2-40B4-BE49-F238E27FC236}">
                <a16:creationId xmlns:a16="http://schemas.microsoft.com/office/drawing/2014/main" id="{AB986468-52FE-D9CF-0B81-FC6EACDCC270}"/>
              </a:ext>
            </a:extLst>
          </p:cNvPr>
          <p:cNvSpPr txBox="1"/>
          <p:nvPr/>
        </p:nvSpPr>
        <p:spPr>
          <a:xfrm>
            <a:off x="228600" y="6418385"/>
            <a:ext cx="6064737" cy="369332"/>
          </a:xfrm>
          <a:prstGeom prst="rect">
            <a:avLst/>
          </a:prstGeom>
          <a:noFill/>
        </p:spPr>
        <p:txBody>
          <a:bodyPr wrap="none" rtlCol="0">
            <a:spAutoFit/>
          </a:bodyPr>
          <a:lstStyle/>
          <a:p>
            <a:r>
              <a:rPr lang="en-SE" dirty="0"/>
              <a:t>Source: </a:t>
            </a:r>
            <a:r>
              <a:rPr lang="en-US" dirty="0"/>
              <a:t>https://curobo.org/get_started/2d_nvblox_demo.html</a:t>
            </a:r>
            <a:endParaRPr lang="en-SE" dirty="0"/>
          </a:p>
        </p:txBody>
      </p:sp>
    </p:spTree>
    <p:extLst>
      <p:ext uri="{BB962C8B-B14F-4D97-AF65-F5344CB8AC3E}">
        <p14:creationId xmlns:p14="http://schemas.microsoft.com/office/powerpoint/2010/main" val="4205812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pc_realsense_clip">
            <a:hlinkClick r:id="" action="ppaction://media"/>
            <a:extLst>
              <a:ext uri="{FF2B5EF4-FFF2-40B4-BE49-F238E27FC236}">
                <a16:creationId xmlns:a16="http://schemas.microsoft.com/office/drawing/2014/main" id="{CFF16084-8D8D-BAC0-7C63-9A89A8727CC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718407" y="504768"/>
            <a:ext cx="8755185" cy="5848464"/>
          </a:xfrm>
          <a:prstGeom prst="rect">
            <a:avLst/>
          </a:prstGeom>
        </p:spPr>
      </p:pic>
      <p:sp>
        <p:nvSpPr>
          <p:cNvPr id="4" name="TextBox 3">
            <a:extLst>
              <a:ext uri="{FF2B5EF4-FFF2-40B4-BE49-F238E27FC236}">
                <a16:creationId xmlns:a16="http://schemas.microsoft.com/office/drawing/2014/main" id="{2EC15E14-D8CE-879A-5329-60997EF153AB}"/>
              </a:ext>
            </a:extLst>
          </p:cNvPr>
          <p:cNvSpPr txBox="1"/>
          <p:nvPr/>
        </p:nvSpPr>
        <p:spPr>
          <a:xfrm>
            <a:off x="158262" y="6488668"/>
            <a:ext cx="6064737" cy="369332"/>
          </a:xfrm>
          <a:prstGeom prst="rect">
            <a:avLst/>
          </a:prstGeom>
          <a:noFill/>
        </p:spPr>
        <p:txBody>
          <a:bodyPr wrap="none" rtlCol="0">
            <a:spAutoFit/>
          </a:bodyPr>
          <a:lstStyle/>
          <a:p>
            <a:r>
              <a:rPr lang="en-SE" dirty="0"/>
              <a:t>Source: </a:t>
            </a:r>
            <a:r>
              <a:rPr lang="en-US" dirty="0"/>
              <a:t>https://curobo.org/get_started/2d_nvblox_demo.html</a:t>
            </a:r>
            <a:endParaRPr lang="en-SE" dirty="0"/>
          </a:p>
        </p:txBody>
      </p:sp>
    </p:spTree>
    <p:extLst>
      <p:ext uri="{BB962C8B-B14F-4D97-AF65-F5344CB8AC3E}">
        <p14:creationId xmlns:p14="http://schemas.microsoft.com/office/powerpoint/2010/main" val="186438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99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232A31"/>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11000232" cy="256032"/>
          </a:xfrm>
          <a:prstGeom prst="rect">
            <a:avLst/>
          </a:prstGeom>
          <a:noFill/>
          <a:ln/>
        </p:spPr>
        <p:txBody>
          <a:bodyPr wrap="square" lIns="0" tIns="0" rIns="0" bIns="0" rtlCol="0" anchor="ctr"/>
          <a:lstStyle/>
          <a:p>
            <a:pPr marL="0" indent="0">
              <a:buNone/>
            </a:pPr>
            <a:r>
              <a:rPr lang="en-US" sz="1100" b="1" kern="0" spc="200" dirty="0">
                <a:solidFill>
                  <a:srgbClr val="F59B14"/>
                </a:solidFill>
                <a:latin typeface="Calibri" pitchFamily="34" charset="0"/>
                <a:ea typeface="Calibri" pitchFamily="34" charset="-122"/>
                <a:cs typeface="Calibri" pitchFamily="34" charset="-120"/>
              </a:rPr>
              <a:t>THE DEPLOYMENT ARGUMENT</a:t>
            </a:r>
            <a:endParaRPr lang="en-US" sz="1100" dirty="0"/>
          </a:p>
        </p:txBody>
      </p:sp>
      <p:sp>
        <p:nvSpPr>
          <p:cNvPr id="3" name="Text 1"/>
          <p:cNvSpPr txBox="1"/>
          <p:nvPr/>
        </p:nvSpPr>
        <p:spPr>
          <a:xfrm>
            <a:off x="594360" y="685800"/>
            <a:ext cx="110002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this is the right interface for real hardware</a:t>
            </a:r>
            <a:endParaRPr lang="en-US" sz="3000" dirty="0"/>
          </a:p>
        </p:txBody>
      </p:sp>
      <p:sp>
        <p:nvSpPr>
          <p:cNvPr id="4" name="Shape 2"/>
          <p:cNvSpPr/>
          <p:nvPr/>
        </p:nvSpPr>
        <p:spPr>
          <a:xfrm>
            <a:off x="594360" y="1508760"/>
            <a:ext cx="11000232" cy="1005840"/>
          </a:xfrm>
          <a:prstGeom prst="roundRect">
            <a:avLst>
              <a:gd name="adj" fmla="val 5455"/>
            </a:avLst>
          </a:prstGeom>
          <a:solidFill>
            <a:srgbClr val="2E3740"/>
          </a:solidFill>
          <a:ln w="12700">
            <a:solidFill>
              <a:srgbClr val="2E3740"/>
            </a:solidFill>
            <a:prstDash val="solid"/>
          </a:ln>
        </p:spPr>
        <p:txBody>
          <a:bodyPr/>
          <a:lstStyle/>
          <a:p>
            <a:endParaRPr lang="en-SE"/>
          </a:p>
        </p:txBody>
      </p:sp>
      <p:sp>
        <p:nvSpPr>
          <p:cNvPr id="5" name="Text 3"/>
          <p:cNvSpPr txBox="1"/>
          <p:nvPr/>
        </p:nvSpPr>
        <p:spPr>
          <a:xfrm>
            <a:off x="960120" y="1719072"/>
            <a:ext cx="1069848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real depth camera outputs a depth image and a pose. It does not output a point cloud, and it certainly does not output spheres.</a:t>
            </a:r>
            <a:endParaRPr lang="en-US" sz="1500" dirty="0"/>
          </a:p>
        </p:txBody>
      </p:sp>
      <p:sp>
        <p:nvSpPr>
          <p:cNvPr id="6" name="Shape 4"/>
          <p:cNvSpPr/>
          <p:nvPr/>
        </p:nvSpPr>
        <p:spPr>
          <a:xfrm>
            <a:off x="594360" y="2724912"/>
            <a:ext cx="5308092" cy="1261872"/>
          </a:xfrm>
          <a:prstGeom prst="roundRect">
            <a:avLst>
              <a:gd name="adj" fmla="val 4348"/>
            </a:avLst>
          </a:prstGeom>
          <a:solidFill>
            <a:srgbClr val="2E3740"/>
          </a:solidFill>
          <a:ln w="12700">
            <a:solidFill>
              <a:srgbClr val="2E3740"/>
            </a:solidFill>
            <a:prstDash val="solid"/>
          </a:ln>
        </p:spPr>
        <p:txBody>
          <a:bodyPr/>
          <a:lstStyle/>
          <a:p>
            <a:endParaRPr lang="en-SE"/>
          </a:p>
        </p:txBody>
      </p:sp>
      <p:sp>
        <p:nvSpPr>
          <p:cNvPr id="7" name="Text 5"/>
          <p:cNvSpPr txBox="1"/>
          <p:nvPr/>
        </p:nvSpPr>
        <p:spPr>
          <a:xfrm>
            <a:off x="868680" y="2889504"/>
            <a:ext cx="4759452" cy="274320"/>
          </a:xfrm>
          <a:prstGeom prst="rect">
            <a:avLst/>
          </a:prstGeom>
          <a:noFill/>
          <a:ln/>
        </p:spPr>
        <p:txBody>
          <a:bodyPr wrap="square" lIns="0" tIns="0" rIns="0" bIns="0" rtlCol="0" anchor="ctr"/>
          <a:lstStyle/>
          <a:p>
            <a:pPr marL="0" indent="0">
              <a:buNone/>
            </a:pPr>
            <a:r>
              <a:rPr lang="en-US" sz="1400" b="1" dirty="0">
                <a:solidFill>
                  <a:srgbClr val="F59B14"/>
                </a:solidFill>
                <a:latin typeface="Calibri" pitchFamily="34" charset="0"/>
                <a:ea typeface="Calibri" pitchFamily="34" charset="-122"/>
                <a:cs typeface="Calibri" pitchFamily="34" charset="-120"/>
              </a:rPr>
              <a:t>Identical input on both sides</a:t>
            </a:r>
            <a:endParaRPr lang="en-US" sz="1400" dirty="0"/>
          </a:p>
        </p:txBody>
      </p:sp>
      <p:sp>
        <p:nvSpPr>
          <p:cNvPr id="8" name="Text 6"/>
          <p:cNvSpPr txBox="1"/>
          <p:nvPr/>
        </p:nvSpPr>
        <p:spPr>
          <a:xfrm>
            <a:off x="868680" y="3200400"/>
            <a:ext cx="4759452" cy="713232"/>
          </a:xfrm>
          <a:prstGeom prst="rect">
            <a:avLst/>
          </a:prstGeom>
          <a:noFill/>
          <a:ln/>
        </p:spPr>
        <p:txBody>
          <a:bodyPr wrap="square" lIns="0" tIns="0" rIns="0" bIns="0" rtlCol="0" anchor="ctr"/>
          <a:lstStyle/>
          <a:p>
            <a:pPr marL="0" indent="0">
              <a:buNone/>
            </a:pPr>
            <a:r>
              <a:rPr lang="en-US" sz="1200" dirty="0">
                <a:solidFill>
                  <a:srgbClr val="D7DDE3"/>
                </a:solidFill>
                <a:latin typeface="Calibri" pitchFamily="34" charset="0"/>
                <a:ea typeface="Calibri" pitchFamily="34" charset="-122"/>
                <a:cs typeface="Calibri" pitchFamily="34" charset="-120"/>
              </a:rPr>
              <a:t>nvblox consumes exactly what a RealSense</a:t>
            </a:r>
            <a:r>
              <a:rPr lang="en-SE" sz="1200" dirty="0">
                <a:solidFill>
                  <a:srgbClr val="D7DDE3"/>
                </a:solidFill>
                <a:latin typeface="Calibri" pitchFamily="34" charset="0"/>
                <a:ea typeface="Calibri" pitchFamily="34" charset="-122"/>
                <a:cs typeface="Calibri" pitchFamily="34" charset="-120"/>
              </a:rPr>
              <a:t> </a:t>
            </a:r>
            <a:r>
              <a:rPr lang="en-US" sz="1200" dirty="0">
                <a:solidFill>
                  <a:srgbClr val="D7DDE3"/>
                </a:solidFill>
                <a:latin typeface="Calibri" pitchFamily="34" charset="0"/>
                <a:ea typeface="Calibri" pitchFamily="34" charset="-122"/>
                <a:cs typeface="Calibri" pitchFamily="34" charset="-120"/>
              </a:rPr>
              <a:t>or Photoneo produces. Swapping the simulator's depth output for a camera driver becomes the only change needed.</a:t>
            </a:r>
            <a:endParaRPr lang="en-US" sz="1200" dirty="0"/>
          </a:p>
        </p:txBody>
      </p:sp>
      <p:sp>
        <p:nvSpPr>
          <p:cNvPr id="9" name="Shape 7"/>
          <p:cNvSpPr/>
          <p:nvPr/>
        </p:nvSpPr>
        <p:spPr>
          <a:xfrm>
            <a:off x="6286500" y="2724912"/>
            <a:ext cx="5308092" cy="1261872"/>
          </a:xfrm>
          <a:prstGeom prst="roundRect">
            <a:avLst>
              <a:gd name="adj" fmla="val 4348"/>
            </a:avLst>
          </a:prstGeom>
          <a:solidFill>
            <a:srgbClr val="2E3740"/>
          </a:solidFill>
          <a:ln w="12700">
            <a:solidFill>
              <a:srgbClr val="2E3740"/>
            </a:solidFill>
            <a:prstDash val="solid"/>
          </a:ln>
        </p:spPr>
        <p:txBody>
          <a:bodyPr/>
          <a:lstStyle/>
          <a:p>
            <a:endParaRPr lang="en-SE"/>
          </a:p>
        </p:txBody>
      </p:sp>
      <p:sp>
        <p:nvSpPr>
          <p:cNvPr id="10" name="Text 8"/>
          <p:cNvSpPr txBox="1"/>
          <p:nvPr/>
        </p:nvSpPr>
        <p:spPr>
          <a:xfrm>
            <a:off x="6560820" y="2889504"/>
            <a:ext cx="4759452" cy="274320"/>
          </a:xfrm>
          <a:prstGeom prst="rect">
            <a:avLst/>
          </a:prstGeom>
          <a:noFill/>
          <a:ln/>
        </p:spPr>
        <p:txBody>
          <a:bodyPr wrap="square" lIns="0" tIns="0" rIns="0" bIns="0" rtlCol="0" anchor="ctr"/>
          <a:lstStyle/>
          <a:p>
            <a:pPr marL="0" indent="0">
              <a:buNone/>
            </a:pPr>
            <a:r>
              <a:rPr lang="en-US" sz="1400" b="1" dirty="0">
                <a:solidFill>
                  <a:srgbClr val="F59B14"/>
                </a:solidFill>
                <a:latin typeface="Calibri" pitchFamily="34" charset="0"/>
                <a:ea typeface="Calibri" pitchFamily="34" charset="-122"/>
                <a:cs typeface="Calibri" pitchFamily="34" charset="-120"/>
              </a:rPr>
              <a:t>No simulation-only shortcut</a:t>
            </a:r>
            <a:endParaRPr lang="en-US" sz="1400" dirty="0"/>
          </a:p>
        </p:txBody>
      </p:sp>
      <p:sp>
        <p:nvSpPr>
          <p:cNvPr id="11" name="Text 9"/>
          <p:cNvSpPr txBox="1"/>
          <p:nvPr/>
        </p:nvSpPr>
        <p:spPr>
          <a:xfrm>
            <a:off x="6560820" y="3200400"/>
            <a:ext cx="4759452" cy="713232"/>
          </a:xfrm>
          <a:prstGeom prst="rect">
            <a:avLst/>
          </a:prstGeom>
          <a:noFill/>
          <a:ln/>
        </p:spPr>
        <p:txBody>
          <a:bodyPr wrap="square" lIns="0" tIns="0" rIns="0" bIns="0" rtlCol="0" anchor="ctr"/>
          <a:lstStyle/>
          <a:p>
            <a:pPr marL="0" indent="0">
              <a:buNone/>
            </a:pPr>
            <a:r>
              <a:rPr lang="en-US" sz="1200" dirty="0">
                <a:solidFill>
                  <a:srgbClr val="D7DDE3"/>
                </a:solidFill>
                <a:latin typeface="Calibri" pitchFamily="34" charset="0"/>
                <a:ea typeface="Calibri" pitchFamily="34" charset="-122"/>
                <a:cs typeface="Calibri" pitchFamily="34" charset="-120"/>
              </a:rPr>
              <a:t>Turning clouds into sphere primitives had no counterpart on hardware. It was a convenience that would have been thrown away at deployment.</a:t>
            </a:r>
            <a:endParaRPr lang="en-US" sz="1200" dirty="0"/>
          </a:p>
        </p:txBody>
      </p:sp>
      <p:sp>
        <p:nvSpPr>
          <p:cNvPr id="12" name="Shape 10"/>
          <p:cNvSpPr/>
          <p:nvPr/>
        </p:nvSpPr>
        <p:spPr>
          <a:xfrm>
            <a:off x="594360" y="4169664"/>
            <a:ext cx="5308092" cy="1261872"/>
          </a:xfrm>
          <a:prstGeom prst="roundRect">
            <a:avLst>
              <a:gd name="adj" fmla="val 4348"/>
            </a:avLst>
          </a:prstGeom>
          <a:solidFill>
            <a:srgbClr val="2E3740"/>
          </a:solidFill>
          <a:ln w="12700">
            <a:solidFill>
              <a:srgbClr val="2E3740"/>
            </a:solidFill>
            <a:prstDash val="solid"/>
          </a:ln>
        </p:spPr>
        <p:txBody>
          <a:bodyPr/>
          <a:lstStyle/>
          <a:p>
            <a:endParaRPr lang="en-SE"/>
          </a:p>
        </p:txBody>
      </p:sp>
      <p:sp>
        <p:nvSpPr>
          <p:cNvPr id="13" name="Text 11"/>
          <p:cNvSpPr txBox="1"/>
          <p:nvPr/>
        </p:nvSpPr>
        <p:spPr>
          <a:xfrm>
            <a:off x="868680" y="4334256"/>
            <a:ext cx="4759452" cy="274320"/>
          </a:xfrm>
          <a:prstGeom prst="rect">
            <a:avLst/>
          </a:prstGeom>
          <a:noFill/>
          <a:ln/>
        </p:spPr>
        <p:txBody>
          <a:bodyPr wrap="square" lIns="0" tIns="0" rIns="0" bIns="0" rtlCol="0" anchor="ctr"/>
          <a:lstStyle/>
          <a:p>
            <a:pPr marL="0" indent="0">
              <a:buNone/>
            </a:pPr>
            <a:r>
              <a:rPr lang="en-US" sz="1400" b="1" dirty="0">
                <a:solidFill>
                  <a:srgbClr val="F59B14"/>
                </a:solidFill>
                <a:latin typeface="Calibri" pitchFamily="34" charset="0"/>
                <a:ea typeface="Calibri" pitchFamily="34" charset="-122"/>
                <a:cs typeface="Calibri" pitchFamily="34" charset="-120"/>
              </a:rPr>
              <a:t>Self-filtering transfers unchanged</a:t>
            </a:r>
            <a:endParaRPr lang="en-US" sz="1400" dirty="0"/>
          </a:p>
        </p:txBody>
      </p:sp>
      <p:sp>
        <p:nvSpPr>
          <p:cNvPr id="14" name="Text 12"/>
          <p:cNvSpPr txBox="1"/>
          <p:nvPr/>
        </p:nvSpPr>
        <p:spPr>
          <a:xfrm>
            <a:off x="868680" y="4645152"/>
            <a:ext cx="4759452" cy="713232"/>
          </a:xfrm>
          <a:prstGeom prst="rect">
            <a:avLst/>
          </a:prstGeom>
          <a:noFill/>
          <a:ln/>
        </p:spPr>
        <p:txBody>
          <a:bodyPr wrap="square" lIns="0" tIns="0" rIns="0" bIns="0" rtlCol="0" anchor="ctr"/>
          <a:lstStyle/>
          <a:p>
            <a:pPr marL="0" indent="0">
              <a:buNone/>
            </a:pPr>
            <a:r>
              <a:rPr lang="en-US" sz="1200" dirty="0">
                <a:solidFill>
                  <a:srgbClr val="D7DDE3"/>
                </a:solidFill>
                <a:latin typeface="Calibri" pitchFamily="34" charset="0"/>
                <a:ea typeface="Calibri" pitchFamily="34" charset="-122"/>
                <a:cs typeface="Calibri" pitchFamily="34" charset="-120"/>
              </a:rPr>
              <a:t>Masking the robot is driven by its own joint encoders and kinematic model, both available identically on the real cell.</a:t>
            </a:r>
            <a:endParaRPr lang="en-US" sz="1200" dirty="0"/>
          </a:p>
        </p:txBody>
      </p:sp>
      <p:sp>
        <p:nvSpPr>
          <p:cNvPr id="15" name="Shape 13"/>
          <p:cNvSpPr/>
          <p:nvPr/>
        </p:nvSpPr>
        <p:spPr>
          <a:xfrm>
            <a:off x="6286500" y="4169664"/>
            <a:ext cx="5308092" cy="1261872"/>
          </a:xfrm>
          <a:prstGeom prst="roundRect">
            <a:avLst>
              <a:gd name="adj" fmla="val 4348"/>
            </a:avLst>
          </a:prstGeom>
          <a:solidFill>
            <a:srgbClr val="2E3740"/>
          </a:solidFill>
          <a:ln w="12700">
            <a:solidFill>
              <a:srgbClr val="2E3740"/>
            </a:solidFill>
            <a:prstDash val="solid"/>
          </a:ln>
        </p:spPr>
        <p:txBody>
          <a:bodyPr/>
          <a:lstStyle/>
          <a:p>
            <a:endParaRPr lang="en-SE"/>
          </a:p>
        </p:txBody>
      </p:sp>
      <p:sp>
        <p:nvSpPr>
          <p:cNvPr id="16" name="Text 14"/>
          <p:cNvSpPr txBox="1"/>
          <p:nvPr/>
        </p:nvSpPr>
        <p:spPr>
          <a:xfrm>
            <a:off x="6560820" y="4334256"/>
            <a:ext cx="4759452" cy="274320"/>
          </a:xfrm>
          <a:prstGeom prst="rect">
            <a:avLst/>
          </a:prstGeom>
          <a:noFill/>
          <a:ln/>
        </p:spPr>
        <p:txBody>
          <a:bodyPr wrap="square" lIns="0" tIns="0" rIns="0" bIns="0" rtlCol="0" anchor="ctr"/>
          <a:lstStyle/>
          <a:p>
            <a:pPr marL="0" indent="0">
              <a:buNone/>
            </a:pPr>
            <a:r>
              <a:rPr lang="en-US" sz="1400" b="1" dirty="0">
                <a:solidFill>
                  <a:srgbClr val="F59B14"/>
                </a:solidFill>
                <a:latin typeface="Calibri" pitchFamily="34" charset="0"/>
                <a:ea typeface="Calibri" pitchFamily="34" charset="-122"/>
                <a:cs typeface="Calibri" pitchFamily="34" charset="-120"/>
              </a:rPr>
              <a:t>Deployment operating system</a:t>
            </a:r>
            <a:endParaRPr lang="en-US" sz="1400" dirty="0"/>
          </a:p>
        </p:txBody>
      </p:sp>
      <p:sp>
        <p:nvSpPr>
          <p:cNvPr id="17" name="Text 15"/>
          <p:cNvSpPr txBox="1"/>
          <p:nvPr/>
        </p:nvSpPr>
        <p:spPr>
          <a:xfrm>
            <a:off x="6560820" y="4645152"/>
            <a:ext cx="4759452" cy="713232"/>
          </a:xfrm>
          <a:prstGeom prst="rect">
            <a:avLst/>
          </a:prstGeom>
          <a:noFill/>
          <a:ln/>
        </p:spPr>
        <p:txBody>
          <a:bodyPr wrap="square" lIns="0" tIns="0" rIns="0" bIns="0" rtlCol="0" anchor="ctr"/>
          <a:lstStyle/>
          <a:p>
            <a:pPr marL="0" indent="0">
              <a:buNone/>
            </a:pPr>
            <a:r>
              <a:rPr lang="en-US" sz="1200" dirty="0">
                <a:solidFill>
                  <a:srgbClr val="D7DDE3"/>
                </a:solidFill>
                <a:latin typeface="Calibri" pitchFamily="34" charset="0"/>
                <a:ea typeface="Calibri" pitchFamily="34" charset="-122"/>
                <a:cs typeface="Calibri" pitchFamily="34" charset="-120"/>
              </a:rPr>
              <a:t>The planning stack runs in a Linux container, which is the target environment. Simulation and hardware share one stack.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Text 0"/>
          <p:cNvSpPr txBox="1"/>
          <p:nvPr/>
        </p:nvSpPr>
        <p:spPr>
          <a:xfrm>
            <a:off x="594360" y="347472"/>
            <a:ext cx="11000232" cy="237744"/>
          </a:xfrm>
          <a:prstGeom prst="rect">
            <a:avLst/>
          </a:prstGeom>
          <a:noFill/>
          <a:ln/>
        </p:spPr>
        <p:txBody>
          <a:bodyPr wrap="square" lIns="0" tIns="0" rIns="0" bIns="0" rtlCol="0" anchor="ctr"/>
          <a:lstStyle/>
          <a:p>
            <a:pPr marL="0" indent="0">
              <a:buNone/>
            </a:pPr>
            <a:r>
              <a:rPr lang="en-US" sz="1100" b="1" kern="0" spc="160" dirty="0">
                <a:solidFill>
                  <a:srgbClr val="F59B14"/>
                </a:solidFill>
                <a:latin typeface="Calibri" pitchFamily="34" charset="0"/>
                <a:ea typeface="Calibri" pitchFamily="34" charset="-122"/>
                <a:cs typeface="Calibri" pitchFamily="34" charset="-120"/>
              </a:rPr>
              <a:t>HONEST ASSESSMENT</a:t>
            </a:r>
            <a:endParaRPr lang="en-US" sz="1100" dirty="0"/>
          </a:p>
        </p:txBody>
      </p:sp>
      <p:sp>
        <p:nvSpPr>
          <p:cNvPr id="3" name="Text 1"/>
          <p:cNvSpPr txBox="1"/>
          <p:nvPr/>
        </p:nvSpPr>
        <p:spPr>
          <a:xfrm>
            <a:off x="594360" y="603504"/>
            <a:ext cx="11000232" cy="685800"/>
          </a:xfrm>
          <a:prstGeom prst="rect">
            <a:avLst/>
          </a:prstGeom>
          <a:noFill/>
          <a:ln/>
        </p:spPr>
        <p:txBody>
          <a:bodyPr wrap="square" lIns="0" tIns="0" rIns="0" bIns="0" rtlCol="0" anchor="ctr"/>
          <a:lstStyle/>
          <a:p>
            <a:pPr marL="0" indent="0">
              <a:buNone/>
            </a:pPr>
            <a:r>
              <a:rPr lang="en-US" sz="3200" b="1" dirty="0">
                <a:solidFill>
                  <a:srgbClr val="232A31"/>
                </a:solidFill>
                <a:latin typeface="Cambria" pitchFamily="34" charset="0"/>
                <a:ea typeface="Cambria" pitchFamily="34" charset="-122"/>
                <a:cs typeface="Cambria" pitchFamily="34" charset="-120"/>
              </a:rPr>
              <a:t>What the evaluation data can and cannot show</a:t>
            </a:r>
            <a:endParaRPr lang="en-US" sz="3200" dirty="0"/>
          </a:p>
        </p:txBody>
      </p:sp>
      <p:graphicFrame>
        <p:nvGraphicFramePr>
          <p:cNvPr id="4" name="Chart 0"/>
          <p:cNvGraphicFramePr/>
          <p:nvPr/>
        </p:nvGraphicFramePr>
        <p:xfrm>
          <a:off x="594360" y="1737360"/>
          <a:ext cx="502920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737360"/>
            <a:ext cx="5650992" cy="2331720"/>
          </a:xfrm>
          <a:prstGeom prst="roundRect">
            <a:avLst>
              <a:gd name="adj" fmla="val 2353"/>
            </a:avLst>
          </a:prstGeom>
          <a:solidFill>
            <a:srgbClr val="232A31"/>
          </a:solidFill>
          <a:ln w="12700">
            <a:solidFill>
              <a:srgbClr val="232A31"/>
            </a:solidFill>
            <a:prstDash val="solid"/>
          </a:ln>
        </p:spPr>
        <p:txBody>
          <a:bodyPr/>
          <a:lstStyle/>
          <a:p>
            <a:endParaRPr lang="en-SE"/>
          </a:p>
        </p:txBody>
      </p:sp>
      <p:sp>
        <p:nvSpPr>
          <p:cNvPr id="6" name="Text 3"/>
          <p:cNvSpPr txBox="1"/>
          <p:nvPr/>
        </p:nvSpPr>
        <p:spPr>
          <a:xfrm>
            <a:off x="6217920" y="1938528"/>
            <a:ext cx="5120640" cy="237744"/>
          </a:xfrm>
          <a:prstGeom prst="rect">
            <a:avLst/>
          </a:prstGeom>
          <a:noFill/>
          <a:ln/>
        </p:spPr>
        <p:txBody>
          <a:bodyPr wrap="square" lIns="0" tIns="0" rIns="0" bIns="0" rtlCol="0" anchor="ctr"/>
          <a:lstStyle/>
          <a:p>
            <a:pPr marL="0" indent="0">
              <a:buNone/>
            </a:pPr>
            <a:r>
              <a:rPr lang="en-US" sz="1000" b="1" kern="0" spc="130" dirty="0">
                <a:solidFill>
                  <a:srgbClr val="F59B14"/>
                </a:solidFill>
                <a:latin typeface="Calibri" pitchFamily="34" charset="0"/>
                <a:ea typeface="Calibri" pitchFamily="34" charset="-122"/>
                <a:cs typeface="Calibri" pitchFamily="34" charset="-120"/>
              </a:rPr>
              <a:t>WHY THIS COMPARISON DOES NOT HOLD</a:t>
            </a:r>
            <a:endParaRPr lang="en-US" sz="1000" dirty="0"/>
          </a:p>
        </p:txBody>
      </p:sp>
      <p:sp>
        <p:nvSpPr>
          <p:cNvPr id="7" name="Text 4"/>
          <p:cNvSpPr txBox="1"/>
          <p:nvPr/>
        </p:nvSpPr>
        <p:spPr>
          <a:xfrm>
            <a:off x="6217920" y="2267712"/>
            <a:ext cx="512064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27 of the 30 zero-success runs recorded a camera-capture timeout or an unreachable bridge.</a:t>
            </a:r>
            <a:endParaRPr lang="en-US" sz="1300" dirty="0"/>
          </a:p>
        </p:txBody>
      </p:sp>
      <p:sp>
        <p:nvSpPr>
          <p:cNvPr id="8" name="Text 5"/>
          <p:cNvSpPr txBox="1"/>
          <p:nvPr/>
        </p:nvSpPr>
        <p:spPr>
          <a:xfrm>
            <a:off x="6217920" y="2852928"/>
            <a:ext cx="5120640" cy="1051560"/>
          </a:xfrm>
          <a:prstGeom prst="rect">
            <a:avLst/>
          </a:prstGeom>
          <a:noFill/>
          <a:ln/>
        </p:spPr>
        <p:txBody>
          <a:bodyPr wrap="square" lIns="0" tIns="0" rIns="0" bIns="0" rtlCol="0" anchor="ctr"/>
          <a:lstStyle/>
          <a:p>
            <a:pPr marL="0" indent="0">
              <a:buNone/>
            </a:pPr>
            <a:r>
              <a:rPr lang="en-US" sz="1200" dirty="0">
                <a:solidFill>
                  <a:srgbClr val="D7DDE3"/>
                </a:solidFill>
                <a:latin typeface="Calibri" pitchFamily="34" charset="0"/>
                <a:ea typeface="Calibri" pitchFamily="34" charset="-122"/>
                <a:cs typeface="Calibri" pitchFamily="34" charset="-120"/>
              </a:rPr>
              <a:t>Those runs took place while the motion stack was being rebuilt and the bridge restarted repeatedly. The failures are infrastructure, recorded as such in the logs. The perception stage never received its image.</a:t>
            </a:r>
            <a:endParaRPr lang="en-US" sz="1200" dirty="0"/>
          </a:p>
        </p:txBody>
      </p:sp>
      <p:sp>
        <p:nvSpPr>
          <p:cNvPr id="9" name="Text 6"/>
          <p:cNvSpPr txBox="1"/>
          <p:nvPr/>
        </p:nvSpPr>
        <p:spPr>
          <a:xfrm>
            <a:off x="594360" y="4343400"/>
            <a:ext cx="1371600" cy="274320"/>
          </a:xfrm>
          <a:prstGeom prst="rect">
            <a:avLst/>
          </a:prstGeom>
          <a:noFill/>
          <a:ln/>
        </p:spPr>
        <p:txBody>
          <a:bodyPr wrap="square" lIns="0" tIns="0" rIns="0" bIns="0" rtlCol="0" anchor="ctr"/>
          <a:lstStyle/>
          <a:p>
            <a:pPr marL="0" indent="0">
              <a:buNone/>
            </a:pPr>
            <a:r>
              <a:rPr lang="en-US" sz="1150" b="1" kern="0" spc="80" dirty="0">
                <a:solidFill>
                  <a:srgbClr val="2E8B7A"/>
                </a:solidFill>
                <a:latin typeface="Calibri" pitchFamily="34" charset="0"/>
                <a:ea typeface="Calibri" pitchFamily="34" charset="-122"/>
                <a:cs typeface="Calibri" pitchFamily="34" charset="-120"/>
              </a:rPr>
              <a:t>Claimed</a:t>
            </a:r>
            <a:endParaRPr lang="en-US" sz="1150" dirty="0"/>
          </a:p>
        </p:txBody>
      </p:sp>
      <p:sp>
        <p:nvSpPr>
          <p:cNvPr id="10" name="Text 7"/>
          <p:cNvSpPr txBox="1"/>
          <p:nvPr/>
        </p:nvSpPr>
        <p:spPr>
          <a:xfrm>
            <a:off x="2103120" y="4315968"/>
            <a:ext cx="9509760" cy="502920"/>
          </a:xfrm>
          <a:prstGeom prst="rect">
            <a:avLst/>
          </a:prstGeom>
          <a:noFill/>
          <a:ln/>
        </p:spPr>
        <p:txBody>
          <a:bodyPr wrap="square" lIns="0" tIns="0" rIns="0" bIns="0" rtlCol="0" anchor="ctr"/>
          <a:lstStyle/>
          <a:p>
            <a:pPr marL="0" indent="0">
              <a:buNone/>
            </a:pPr>
            <a:r>
              <a:rPr lang="en-US" sz="1250" dirty="0">
                <a:solidFill>
                  <a:srgbClr val="3A434C"/>
                </a:solidFill>
                <a:latin typeface="Calibri" pitchFamily="34" charset="0"/>
                <a:ea typeface="Calibri" pitchFamily="34" charset="-122"/>
                <a:cs typeface="Calibri" pitchFamily="34" charset="-120"/>
              </a:rPr>
              <a:t>The architectural case for self-hosted open-weight perception: control, one fewer stage, reproducibility.</a:t>
            </a:r>
            <a:endParaRPr lang="en-US" sz="1250" dirty="0"/>
          </a:p>
        </p:txBody>
      </p:sp>
      <p:sp>
        <p:nvSpPr>
          <p:cNvPr id="11" name="Text 8"/>
          <p:cNvSpPr txBox="1"/>
          <p:nvPr/>
        </p:nvSpPr>
        <p:spPr>
          <a:xfrm>
            <a:off x="594360" y="4937760"/>
            <a:ext cx="1371600" cy="274320"/>
          </a:xfrm>
          <a:prstGeom prst="rect">
            <a:avLst/>
          </a:prstGeom>
          <a:noFill/>
          <a:ln/>
        </p:spPr>
        <p:txBody>
          <a:bodyPr wrap="square" lIns="0" tIns="0" rIns="0" bIns="0" rtlCol="0" anchor="ctr"/>
          <a:lstStyle/>
          <a:p>
            <a:pPr marL="0" indent="0">
              <a:buNone/>
            </a:pPr>
            <a:r>
              <a:rPr lang="en-US" sz="1150" b="1" kern="0" spc="80" dirty="0">
                <a:solidFill>
                  <a:srgbClr val="C4453D"/>
                </a:solidFill>
                <a:latin typeface="Calibri" pitchFamily="34" charset="0"/>
                <a:ea typeface="Calibri" pitchFamily="34" charset="-122"/>
                <a:cs typeface="Calibri" pitchFamily="34" charset="-120"/>
              </a:rPr>
              <a:t>Not claimed</a:t>
            </a:r>
            <a:endParaRPr lang="en-US" sz="1150" dirty="0"/>
          </a:p>
        </p:txBody>
      </p:sp>
      <p:sp>
        <p:nvSpPr>
          <p:cNvPr id="12" name="Text 9"/>
          <p:cNvSpPr txBox="1"/>
          <p:nvPr/>
        </p:nvSpPr>
        <p:spPr>
          <a:xfrm>
            <a:off x="2103120" y="4910328"/>
            <a:ext cx="9509760" cy="502920"/>
          </a:xfrm>
          <a:prstGeom prst="rect">
            <a:avLst/>
          </a:prstGeom>
          <a:noFill/>
          <a:ln/>
        </p:spPr>
        <p:txBody>
          <a:bodyPr wrap="square" lIns="0" tIns="0" rIns="0" bIns="0" rtlCol="0" anchor="ctr"/>
          <a:lstStyle/>
          <a:p>
            <a:pPr marL="0" indent="0">
              <a:buNone/>
            </a:pPr>
            <a:r>
              <a:rPr lang="en-US" sz="1250" dirty="0">
                <a:solidFill>
                  <a:srgbClr val="3A434C"/>
                </a:solidFill>
                <a:latin typeface="Calibri" pitchFamily="34" charset="0"/>
                <a:ea typeface="Calibri" pitchFamily="34" charset="-122"/>
                <a:cs typeface="Calibri" pitchFamily="34" charset="-120"/>
              </a:rPr>
              <a:t>That Qwen3-VL outperforms the previous model. This data cannot support that in either direction.</a:t>
            </a:r>
            <a:endParaRPr lang="en-US" sz="1250" dirty="0"/>
          </a:p>
        </p:txBody>
      </p:sp>
      <p:sp>
        <p:nvSpPr>
          <p:cNvPr id="13" name="Text 10"/>
          <p:cNvSpPr txBox="1"/>
          <p:nvPr/>
        </p:nvSpPr>
        <p:spPr>
          <a:xfrm>
            <a:off x="594360" y="5532120"/>
            <a:ext cx="1371600" cy="274320"/>
          </a:xfrm>
          <a:prstGeom prst="rect">
            <a:avLst/>
          </a:prstGeom>
          <a:noFill/>
          <a:ln/>
        </p:spPr>
        <p:txBody>
          <a:bodyPr wrap="square" lIns="0" tIns="0" rIns="0" bIns="0" rtlCol="0" anchor="ctr"/>
          <a:lstStyle/>
          <a:p>
            <a:pPr marL="0" indent="0">
              <a:buNone/>
            </a:pPr>
            <a:r>
              <a:rPr lang="en-US" sz="1150" b="1" kern="0" spc="80" dirty="0">
                <a:solidFill>
                  <a:srgbClr val="F59B14"/>
                </a:solidFill>
                <a:latin typeface="Calibri" pitchFamily="34" charset="0"/>
                <a:ea typeface="Calibri" pitchFamily="34" charset="-122"/>
                <a:cs typeface="Calibri" pitchFamily="34" charset="-120"/>
              </a:rPr>
              <a:t>Next</a:t>
            </a:r>
            <a:endParaRPr lang="en-US" sz="1150" dirty="0"/>
          </a:p>
        </p:txBody>
      </p:sp>
      <p:sp>
        <p:nvSpPr>
          <p:cNvPr id="14" name="Text 11"/>
          <p:cNvSpPr txBox="1"/>
          <p:nvPr/>
        </p:nvSpPr>
        <p:spPr>
          <a:xfrm>
            <a:off x="2103120" y="5504688"/>
            <a:ext cx="9509760" cy="502920"/>
          </a:xfrm>
          <a:prstGeom prst="rect">
            <a:avLst/>
          </a:prstGeom>
          <a:noFill/>
          <a:ln/>
        </p:spPr>
        <p:txBody>
          <a:bodyPr wrap="square" lIns="0" tIns="0" rIns="0" bIns="0" rtlCol="0" anchor="ctr"/>
          <a:lstStyle/>
          <a:p>
            <a:pPr marL="0" indent="0">
              <a:buNone/>
            </a:pPr>
            <a:r>
              <a:rPr lang="en-US" sz="1250" dirty="0">
                <a:solidFill>
                  <a:srgbClr val="3A434C"/>
                </a:solidFill>
                <a:latin typeface="Calibri" pitchFamily="34" charset="0"/>
                <a:ea typeface="Calibri" pitchFamily="34" charset="-122"/>
                <a:cs typeface="Calibri" pitchFamily="34" charset="-120"/>
              </a:rPr>
              <a:t>Re-run the perception benchmark on a frozen pipeline, with the motion stack held still, before drawing any conclusion about models.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TotalTime>
  <Words>1905</Words>
  <Application>Microsoft Office PowerPoint</Application>
  <PresentationFormat>Widescreen</PresentationFormat>
  <Paragraphs>216</Paragraphs>
  <Slides>17</Slides>
  <Notes>13</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Point Clouds to Depth-Native Planning</dc:title>
  <dc:subject>PptxGenJS Presentation</dc:subject>
  <dc:creator>Parth Kadiya</dc:creator>
  <cp:lastModifiedBy>Parth Kadiya</cp:lastModifiedBy>
  <cp:revision>16</cp:revision>
  <dcterms:created xsi:type="dcterms:W3CDTF">2026-09-17T18:45:25Z</dcterms:created>
  <dcterms:modified xsi:type="dcterms:W3CDTF">2026-09-18T09:55:08Z</dcterms:modified>
</cp:coreProperties>
</file>